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d4f4150e014bf6" /><Relationship Type="http://schemas.openxmlformats.org/officeDocument/2006/relationships/extended-properties" Target="/docProps/app.xml" Id="R2c7b011d16e74cb3" /><Relationship Type="http://schemas.openxmlformats.org/officeDocument/2006/relationships/officeDocument" Target="/ppt/presentation.xml" Id="Ra91fa7c3ba8542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403ad14dbb4b8f"/>
  </p:sldMasterIdLst>
  <p:notesMasterIdLst>
    <p:notesMasterId xmlns:r="http://schemas.openxmlformats.org/officeDocument/2006/relationships" r:id="R8bf683432d144b22"/>
  </p:notesMasterIdLst>
  <p:sldIdLst>
    <p:sldId xmlns:r="http://schemas.openxmlformats.org/officeDocument/2006/relationships" id="256" r:id="R76c3a54e2eaf445c"/>
    <p:sldId xmlns:r="http://schemas.openxmlformats.org/officeDocument/2006/relationships" id="257" r:id="R60899884069b436d"/>
    <p:sldId xmlns:r="http://schemas.openxmlformats.org/officeDocument/2006/relationships" id="258" r:id="R92d26035d54943f1"/>
    <p:sldId xmlns:r="http://schemas.openxmlformats.org/officeDocument/2006/relationships" id="259" r:id="R80d37fed0ae34a8a"/>
    <p:sldId xmlns:r="http://schemas.openxmlformats.org/officeDocument/2006/relationships" id="260" r:id="Ra5bfa17fa61247fa"/>
    <p:sldId xmlns:r="http://schemas.openxmlformats.org/officeDocument/2006/relationships" id="261" r:id="Rd2e4cb8f65f840f5"/>
    <p:sldId xmlns:r="http://schemas.openxmlformats.org/officeDocument/2006/relationships" id="262" r:id="R6eb44033800c4030"/>
    <p:sldId xmlns:r="http://schemas.openxmlformats.org/officeDocument/2006/relationships" id="263" r:id="Rae89f7c9f11f43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19eb7408914569" /><Relationship Type="http://schemas.openxmlformats.org/officeDocument/2006/relationships/slideMaster" Target="/ppt/slideMasters/slideMaster1.xml" Id="R72403ad14dbb4b8f" /><Relationship Type="http://schemas.openxmlformats.org/officeDocument/2006/relationships/notesMaster" Target="/ppt/notesMasters/notesMaster1.xml" Id="R8bf683432d144b22" /><Relationship Type="http://schemas.openxmlformats.org/officeDocument/2006/relationships/presProps" Target="/ppt/presProps.xml" Id="Rcb5b3808ab2f4d6d" /><Relationship Type="http://schemas.openxmlformats.org/officeDocument/2006/relationships/tableStyles" Target="/ppt/tableStyles.xml" Id="R4cd4e73294a84a2d" /><Relationship Type="http://schemas.openxmlformats.org/officeDocument/2006/relationships/slide" Target="/ppt/slides/slide1.xml" Id="R76c3a54e2eaf445c" /><Relationship Type="http://schemas.openxmlformats.org/officeDocument/2006/relationships/slide" Target="/ppt/slides/slide2.xml" Id="R60899884069b436d" /><Relationship Type="http://schemas.openxmlformats.org/officeDocument/2006/relationships/slide" Target="/ppt/slides/slide3.xml" Id="R92d26035d54943f1" /><Relationship Type="http://schemas.openxmlformats.org/officeDocument/2006/relationships/slide" Target="/ppt/slides/slide4.xml" Id="R80d37fed0ae34a8a" /><Relationship Type="http://schemas.openxmlformats.org/officeDocument/2006/relationships/slide" Target="/ppt/slides/slide5.xml" Id="Ra5bfa17fa61247fa" /><Relationship Type="http://schemas.openxmlformats.org/officeDocument/2006/relationships/slide" Target="/ppt/slides/slide6.xml" Id="Rd2e4cb8f65f840f5" /><Relationship Type="http://schemas.openxmlformats.org/officeDocument/2006/relationships/slide" Target="/ppt/slides/slide7.xml" Id="R6eb44033800c4030" /><Relationship Type="http://schemas.openxmlformats.org/officeDocument/2006/relationships/slide" Target="/ppt/slides/slide8.xml" Id="Rae89f7c9f11f43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85308d8cbb43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3c88e1436642e3" /><Relationship Type="http://schemas.openxmlformats.org/officeDocument/2006/relationships/notesMaster" Target="/ppt/notesMasters/notesMaster1.xml" Id="R7bf5e59f2fcb46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4b60cd070443c6" /><Relationship Type="http://schemas.openxmlformats.org/officeDocument/2006/relationships/notesMaster" Target="/ppt/notesMasters/notesMaster1.xml" Id="R0c543cc704c546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49c56e9ef24893" /><Relationship Type="http://schemas.openxmlformats.org/officeDocument/2006/relationships/notesMaster" Target="/ppt/notesMasters/notesMaster1.xml" Id="Rbbcf4a759a2747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4704618bc048bd" /><Relationship Type="http://schemas.openxmlformats.org/officeDocument/2006/relationships/notesMaster" Target="/ppt/notesMasters/notesMaster1.xml" Id="Rb38af650027b4a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562c0ce5af4359" /><Relationship Type="http://schemas.openxmlformats.org/officeDocument/2006/relationships/notesMaster" Target="/ppt/notesMasters/notesMaster1.xml" Id="R5aec084577234e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041c94505a4efd" /><Relationship Type="http://schemas.openxmlformats.org/officeDocument/2006/relationships/notesMaster" Target="/ppt/notesMasters/notesMaster1.xml" Id="R235d40c6f07846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81bb95e46245be" /><Relationship Type="http://schemas.openxmlformats.org/officeDocument/2006/relationships/notesMaster" Target="/ppt/notesMasters/notesMaster1.xml" Id="R1fe167834e674b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360d86de214934" /><Relationship Type="http://schemas.openxmlformats.org/officeDocument/2006/relationships/notesMaster" Target="/ppt/notesMasters/notesMaster1.xml" Id="Rc65a7fb1fcd847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Todos los datos son sintéticos. El producto no representa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dataset sintético generado por data/generate_synthetic.py.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estructura PBIP y PROJECT_SPEC.md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IW39 simulado. Datos sintéticos. El gráfico usa conteos de órdenes por tipo y 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IW29 e IH08 simulados. Datos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simuladas: IW39, IW47, KOB1, MB51 y CR03.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cartera A3 sintética y KOB1 simulado.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benchmark es orientativo. Los valores actuales son sintéticos y no constituyen una medición auditada.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94956f16c47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20e4989b744f13" /><Relationship Type="http://schemas.openxmlformats.org/officeDocument/2006/relationships/slideLayout" Target="/ppt/slideLayouts/slideLayout1.xml" Id="Rc824767cf23a4a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24767cf23a4a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45e028020462c" /><Relationship Type="http://schemas.openxmlformats.org/officeDocument/2006/relationships/notesSlide" Target="/ppt/notesSlides/notesSlide1.xml" Id="Rcf8228110bbb4e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ea0feae9b4bbd" /><Relationship Type="http://schemas.openxmlformats.org/officeDocument/2006/relationships/notesSlide" Target="/ppt/notesSlides/notesSlide2.xml" Id="R11f52b24b23e41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1bf47bca34034" /><Relationship Type="http://schemas.openxmlformats.org/officeDocument/2006/relationships/notesSlide" Target="/ppt/notesSlides/notesSlide3.xml" Id="R9b14ef285fba4d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32349e4c04afd" /><Relationship Type="http://schemas.openxmlformats.org/officeDocument/2006/relationships/chart" Target="/ppt/slides/charts/chart1.xml" Id="R83481bbdb88d48ab" /><Relationship Type="http://schemas.openxmlformats.org/officeDocument/2006/relationships/notesSlide" Target="/ppt/notesSlides/notesSlide4.xml" Id="R0816faf051b842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d21c297d0471f" /><Relationship Type="http://schemas.openxmlformats.org/officeDocument/2006/relationships/chart" Target="/ppt/slides/charts/chart2.xml" Id="R19525b96a22d475d" /><Relationship Type="http://schemas.openxmlformats.org/officeDocument/2006/relationships/notesSlide" Target="/ppt/notesSlides/notesSlide5.xml" Id="R86c8467b21f14e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74c7044b348f6" /><Relationship Type="http://schemas.openxmlformats.org/officeDocument/2006/relationships/notesSlide" Target="/ppt/notesSlides/notesSlide6.xml" Id="R848a821fb8834b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1d39784ce4c03" /><Relationship Type="http://schemas.openxmlformats.org/officeDocument/2006/relationships/chart" Target="/ppt/slides/charts/chart3.xml" Id="R630f3c8860f944f8" /><Relationship Type="http://schemas.openxmlformats.org/officeDocument/2006/relationships/notesSlide" Target="/ppt/notesSlides/notesSlide7.xml" Id="Ra51e02bcb8884c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8fbe4191940d0" /><Relationship Type="http://schemas.openxmlformats.org/officeDocument/2006/relationships/notesSlide" Target="/ppt/notesSlides/notesSlide8.xml" Id="Rb563d640b7b3467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Órdenes por mes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ser>
          <c:idx val="0"/>
          <c:order val="0"/>
          <c:tx>
            <c:v>Correctivo</c:v>
          </c:tx>
          <c:spPr>
            <a:ln xmlns:a="http://schemas.openxmlformats.org/drawingml/2006/main" w="28575">
              <a:solidFill>
                <a:srgbClr val="B42318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  <c:pt idx="21">
                  <c:v>Oct 26</c:v>
                </c:pt>
                <c:pt idx="22">
                  <c:v>Nov 26</c:v>
                </c:pt>
                <c:pt idx="23">
                  <c:v>Dic 26</c:v>
                </c:pt>
              </c:strCache>
            </c:strRef>
          </c:cat>
          <c:val>
            <c:numRef>
              <c:f>'Chart Data'!$B$2:$B$25</c:f>
              <c:numCache>
                <c:formatCode>General</c:formatCode>
                <c:ptCount val="24"/>
                <c:pt idx="0">
                  <c:v>56</c:v>
                </c:pt>
                <c:pt idx="1">
                  <c:v>37</c:v>
                </c:pt>
                <c:pt idx="2">
                  <c:v>42</c:v>
                </c:pt>
                <c:pt idx="3">
                  <c:v>33</c:v>
                </c:pt>
                <c:pt idx="4">
                  <c:v>31</c:v>
                </c:pt>
                <c:pt idx="5">
                  <c:v>32</c:v>
                </c:pt>
                <c:pt idx="6">
                  <c:v>42</c:v>
                </c:pt>
                <c:pt idx="7">
                  <c:v>31</c:v>
                </c:pt>
                <c:pt idx="8">
                  <c:v>37</c:v>
                </c:pt>
                <c:pt idx="9">
                  <c:v>33</c:v>
                </c:pt>
                <c:pt idx="10">
                  <c:v>37</c:v>
                </c:pt>
                <c:pt idx="11">
                  <c:v>38</c:v>
                </c:pt>
                <c:pt idx="12">
                  <c:v>41</c:v>
                </c:pt>
                <c:pt idx="13">
                  <c:v>41</c:v>
                </c:pt>
                <c:pt idx="14">
                  <c:v>31</c:v>
                </c:pt>
                <c:pt idx="15">
                  <c:v>24</c:v>
                </c:pt>
                <c:pt idx="16">
                  <c:v>22</c:v>
                </c:pt>
                <c:pt idx="17">
                  <c:v>36</c:v>
                </c:pt>
                <c:pt idx="18">
                  <c:v>28</c:v>
                </c:pt>
                <c:pt idx="19">
                  <c:v>26</c:v>
                </c:pt>
                <c:pt idx="20">
                  <c:v>25</c:v>
                </c:pt>
                <c:pt idx="21">
                  <c:v>28</c:v>
                </c:pt>
                <c:pt idx="22">
                  <c:v>22</c:v>
                </c:pt>
                <c:pt idx="23">
                  <c:v>24</c:v>
                </c:pt>
              </c:numCache>
            </c:numRef>
          </c:val>
        </c:ser>
        <c:ser>
          <c:idx val="1"/>
          <c:order val="1"/>
          <c:tx>
            <c:v>Preventivo</c:v>
          </c:tx>
          <c:spPr>
            <a:ln xmlns:a="http://schemas.openxmlformats.org/drawingml/2006/main" w="28575">
              <a:solidFill>
                <a:srgbClr val="2F6FED"/>
              </a:solidFill>
            </a:ln>
          </c:spPr>
          <c:marker>
            <c:symbol val="none"/>
          </c:marker>
          <c:cat>
            <c:strRef>
              <c:f>'Chart Data'!$C$2:$C$25</c:f>
              <c:strCache>
                <c:ptCount val="24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  <c:pt idx="21">
                  <c:v>Oct 26</c:v>
                </c:pt>
                <c:pt idx="22">
                  <c:v>Nov 26</c:v>
                </c:pt>
                <c:pt idx="23">
                  <c:v>Dic 26</c:v>
                </c:pt>
              </c:strCache>
            </c:strRef>
          </c:cat>
          <c:val>
            <c:numRef>
              <c:f>'Chart Data'!$D$2:$D$25</c:f>
              <c:numCache>
                <c:formatCode>General</c:formatCode>
                <c:ptCount val="24"/>
                <c:pt idx="0">
                  <c:v>64</c:v>
                </c:pt>
                <c:pt idx="1">
                  <c:v>78</c:v>
                </c:pt>
                <c:pt idx="2">
                  <c:v>57</c:v>
                </c:pt>
                <c:pt idx="3">
                  <c:v>66</c:v>
                </c:pt>
                <c:pt idx="4">
                  <c:v>65</c:v>
                </c:pt>
                <c:pt idx="5">
                  <c:v>68</c:v>
                </c:pt>
                <c:pt idx="6">
                  <c:v>71</c:v>
                </c:pt>
                <c:pt idx="7">
                  <c:v>74</c:v>
                </c:pt>
                <c:pt idx="8">
                  <c:v>66</c:v>
                </c:pt>
                <c:pt idx="9">
                  <c:v>62</c:v>
                </c:pt>
                <c:pt idx="10">
                  <c:v>74</c:v>
                </c:pt>
                <c:pt idx="11">
                  <c:v>75</c:v>
                </c:pt>
                <c:pt idx="12">
                  <c:v>82</c:v>
                </c:pt>
                <c:pt idx="13">
                  <c:v>80</c:v>
                </c:pt>
                <c:pt idx="14">
                  <c:v>78</c:v>
                </c:pt>
                <c:pt idx="15">
                  <c:v>71</c:v>
                </c:pt>
                <c:pt idx="16">
                  <c:v>88</c:v>
                </c:pt>
                <c:pt idx="17">
                  <c:v>75</c:v>
                </c:pt>
                <c:pt idx="18">
                  <c:v>85</c:v>
                </c:pt>
                <c:pt idx="19">
                  <c:v>86</c:v>
                </c:pt>
                <c:pt idx="20">
                  <c:v>74</c:v>
                </c:pt>
                <c:pt idx="21">
                  <c:v>70</c:v>
                </c:pt>
                <c:pt idx="22">
                  <c:v>93</c:v>
                </c:pt>
                <c:pt idx="23">
                  <c:v>90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Avisos acumulados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Avisos</c:v>
          </c:tx>
          <c:spPr>
            <a:solidFill xmlns:a="http://schemas.openxmlformats.org/drawingml/2006/main">
              <a:srgbClr val="D97706"/>
            </a:solidFill>
          </c:spPr>
          <c:cat>
            <c:strRef>
              <c:f>'Chart Data'!$A$2:$A$8</c:f>
              <c:strCache>
                <c:ptCount val="7"/>
                <c:pt idx="0">
                  <c:v>Envasadora L2</c:v>
                </c:pt>
                <c:pt idx="1">
                  <c:v>Etiquetadora L1</c:v>
                </c:pt>
                <c:pt idx="2">
                  <c:v>Compresor 3</c:v>
                </c:pt>
                <c:pt idx="3">
                  <c:v>Reactor P1</c:v>
                </c:pt>
                <c:pt idx="4">
                  <c:v>Envasadora L1</c:v>
                </c:pt>
                <c:pt idx="5">
                  <c:v>Bomba CIP</c:v>
                </c:pt>
                <c:pt idx="6">
                  <c:v>Etiquetadora L2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440</c:v>
                </c:pt>
                <c:pt idx="1">
                  <c:v>227</c:v>
                </c:pt>
                <c:pt idx="2">
                  <c:v>223</c:v>
                </c:pt>
                <c:pt idx="3">
                  <c:v>208</c:v>
                </c:pt>
                <c:pt idx="4">
                  <c:v>195</c:v>
                </c:pt>
                <c:pt idx="5">
                  <c:v>170</c:v>
                </c:pt>
                <c:pt idx="6">
                  <c:v>156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Iniciativas por fase PDCA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A3</c:v>
          </c:tx>
          <c:spPr>
            <a:solidFill xmlns:a="http://schemas.openxmlformats.org/drawingml/2006/main">
              <a:srgbClr val="2F6FED"/>
            </a:solidFill>
          </c:spPr>
          <c:cat>
            <c:strRef>
              <c:f>'Chart Data'!$A$2:$A$5</c:f>
              <c:strCache>
                <c:ptCount val="4"/>
                <c:pt idx="0">
                  <c:v>Plan</c:v>
                </c:pt>
                <c:pt idx="1">
                  <c:v>Do</c:v>
                </c:pt>
                <c:pt idx="2">
                  <c:v>Check</c:v>
                </c:pt>
                <c:pt idx="3">
                  <c:v>Act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8C131-AE2B-4ACD-A056-558345B6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Maintenance Performance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39BD9-6286-479D-9AA6-0A9BE35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7E3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7E3F8"/>
                </a:solidFill>
                <a:latin typeface="Arial"/>
                <a:ea typeface="Arial"/>
                <a:cs typeface="Arial"/>
              </a:rPr>
              <a:t>Sistema analítico para mantenimiento industrial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B0BA2-5C19-4133-9F93-D2AFBF33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6E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6EA"/>
                </a:solidFill>
                <a:latin typeface="Arial"/>
                <a:ea typeface="Arial"/>
                <a:cs typeface="Arial"/>
              </a:rPr>
              <a:t>SAP PM MM CO PP  |  Power BI  |  Mejora Enfocada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08124-317E-421E-939C-597095B4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AAE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ED0"/>
                </a:solidFill>
                <a:latin typeface="Arial"/>
                <a:ea typeface="Arial"/>
                <a:cs typeface="Arial"/>
              </a:rPr>
              <a:t>Datos sintéticos</a:t>
            </a:r>
          </a:p>
        </p:txBody>
      </p:sp>
    </p:spTree>
    <p:extLst>
      <p:ext uri="{BB962C8B-B14F-4D97-AF65-F5344CB8AC3E}">
        <p14:creationId xmlns:p14="http://schemas.microsoft.com/office/powerpoint/2010/main" val="1007446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52410-2A23-4CC0-8D49-ADA23643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E2C32-EE32-4D16-B1B6-2B7E0B69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AE461-0EEE-43EF-8EB0-B0E08E46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3.044 órdenes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105C3-DAC7-4148-A6CD-3B034BDF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76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2.623 avisos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0E29C-7430-4685-9972-489F26A2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90.9% disponibilidad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60765-174F-403B-B11B-9EBE3A95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M$ 2173.1 costo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135A3-625D-47C0-9A60-1FFC9DAF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241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M$ 31.8 ahorro validado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39F69-FA7B-4CEE-B7F6-D0202BD0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 base cubre 24 meses y concentra las fallas en pocos activos.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modelo conecta costo, confiabilidad, backlog y cumplimiento preventivo.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 cartera A3 exige ahorro confirmado y actualización del estándar.</a:t>
            </a:r>
          </a:p>
        </p:txBody>
      </p:sp>
    </p:spTree>
    <p:extLst>
      <p:ext uri="{BB962C8B-B14F-4D97-AF65-F5344CB8AC3E}">
        <p14:creationId xmlns:p14="http://schemas.microsoft.com/office/powerpoint/2010/main" val="1111849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CF32D-E602-42EE-A8AC-2F939D7E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B1F09-3C06-4464-AD31-4304091E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78B5E-009A-46CB-98EA-73CBE58A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2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SAP PM MM CO 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AC049-14CC-4F89-B94A-B1D00611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Power Query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0E87B-1945-4CFB-A7BD-6A701B7A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Modelo TMDL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2C371-A592-4EEF-9DAB-4B753E8F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19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98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79 medidas DAX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7F3A6-9656-4EA0-BC85-695220BA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9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52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12 páginas PBIR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D79EB-B950-41F7-BE5D-E446D2AF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Cada capa conserva la fuente, el grano y la definición del indicador.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EBEA8-FA3B-4DCB-8A13-87E4A46E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15 tablas semánticas con relaciones controladas.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174 visuales con transacción SAP visible.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Build reproducible, pruebas automatizadas y publicación continua.</a:t>
            </a:r>
          </a:p>
        </p:txBody>
      </p:sp>
    </p:spTree>
    <p:extLst>
      <p:ext uri="{BB962C8B-B14F-4D97-AF65-F5344CB8AC3E}">
        <p14:creationId xmlns:p14="http://schemas.microsoft.com/office/powerpoint/2010/main" val="468605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9A708-C27D-433F-AECC-14A42420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correctivo disminuye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A8534-8C6F-4607-8C12-580B1F98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857250" y="1428750"/>
          <a:ext xmlns:a="http://schemas.openxmlformats.org/drawingml/2006/main" cx="1047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481bbdb88d48ab"/>
          </a:graphicData>
        </a:graphic>
      </p:graphicFrame>
    </p:spTree>
    <p:extLst>
      <p:ext uri="{BB962C8B-B14F-4D97-AF65-F5344CB8AC3E}">
        <p14:creationId xmlns:p14="http://schemas.microsoft.com/office/powerpoint/2010/main" val="779886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D5B35-AB86-43AC-86CA-A4DA0C9F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Concentración de fallas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C52EE-1278-446B-8851-1394F7D9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952500" y="1428750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525b96a22d475d"/>
          </a:graphicData>
        </a:graphic>
      </p:graphicFrame>
    </p:spTree>
    <p:extLst>
      <p:ext uri="{BB962C8B-B14F-4D97-AF65-F5344CB8AC3E}">
        <p14:creationId xmlns:p14="http://schemas.microsoft.com/office/powerpoint/2010/main" val="842466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2C49E-E2F3-4C8A-ADD5-1A52F4C7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Costo y capacidad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D64AB-735D-44A1-B0C1-A51AC71A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B6B71-3E93-4393-A396-F1E4EBBC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Costo real M$ 2173.1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A74E2-3A2C-441E-AD45-2FABCEB5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Plan M$ 2200.0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1653E-56C9-455F-B106-8770B846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Backlog abierto: 3484 HH pendientes.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8 órdenes esperan repuesto en el período seleccionado.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correctivo muestra mayor dispersión de costo que el preventivo.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29E4E-C664-4477-BAA5-12C98319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Prioridad: programación semanal por especialidad y protección de repuestos A.</a:t>
            </a:r>
          </a:p>
        </p:txBody>
      </p:sp>
    </p:spTree>
    <p:extLst>
      <p:ext uri="{BB962C8B-B14F-4D97-AF65-F5344CB8AC3E}">
        <p14:creationId xmlns:p14="http://schemas.microsoft.com/office/powerpoint/2010/main" val="3022910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73CD9-D864-4617-A8DD-2FD32C13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Cartera A3 por fase PDCA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E50D9-95FC-4E32-9C19-3BF2DA72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57250" y="1476375"/>
          <a:ext xmlns:a="http://schemas.openxmlformats.org/drawingml/2006/main" cx="4762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0f3c8860f944f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55787-2CCD-4A53-B03A-EAAACD96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M$ 31.8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AFA80-27C5-48CF-AD60-B494AE53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Ahorro validado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9E17A-6B43-4A78-A229-30390394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Las iniciativas se originan en pérdidas cuantificadas.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cierre exige verificación en CO.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Act requiere actualizar el plan preventivo.</a:t>
            </a:r>
          </a:p>
        </p:txBody>
      </p:sp>
    </p:spTree>
    <p:extLst>
      <p:ext uri="{BB962C8B-B14F-4D97-AF65-F5344CB8AC3E}">
        <p14:creationId xmlns:p14="http://schemas.microsoft.com/office/powerpoint/2010/main" val="11271479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62262-E2A6-4D24-A8AE-DD678E9B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Decisiones para la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314E0-B438-4F9C-BCDE-4965FAEE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DB734-D893-4B83-8F6C-C4E6950E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ECCC3-FBBE-4BB4-BDDF-EC21ED92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Asignar dueño por KPI y por fuente SAP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1E015-50C6-4190-B5B3-44110B91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7F8E9-CE81-4399-B625-957BCB8C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Reconciliar los ocho KPI principales con tolerancia de 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4A0B5-0629-4E9B-A770-3FCB1692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BE2FF-AD22-4584-9409-A8D922E8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719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Publicar el piloto y cerrar la primera mejora con ahorro confirmado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C305E-0047-4AC9-AB05-8F83975D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7D8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7D8F5"/>
                </a:solidFill>
                <a:latin typeface="Arial"/>
                <a:ea typeface="Arial"/>
                <a:cs typeface="Arial"/>
              </a:rPr>
              <a:t>El OEE permanece parcial hasta integrar velocidad y calidad de línea.</a:t>
            </a:r>
          </a:p>
        </p:txBody>
      </p:sp>
    </p:spTree>
    <p:extLst>
      <p:ext uri="{BB962C8B-B14F-4D97-AF65-F5344CB8AC3E}">
        <p14:creationId xmlns:p14="http://schemas.microsoft.com/office/powerpoint/2010/main" val="862510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2026-09-24T21:53:39.3460000Z</dcterms:created>
  <dcterms:modified xsi:type="dcterms:W3CDTF">2026-09-24T21:53:39.3460000Z</dcterms:modified>
</coreProperties>
</file>