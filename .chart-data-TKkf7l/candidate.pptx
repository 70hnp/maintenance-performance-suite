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cf0a602b02a4946" /><Relationship Type="http://schemas.openxmlformats.org/officeDocument/2006/relationships/extended-properties" Target="/docProps/app.xml" Id="R506c711f5a5c4d61" /><Relationship Type="http://schemas.openxmlformats.org/officeDocument/2006/relationships/officeDocument" Target="/ppt/presentation.xml" Id="R8b1d47d8a06d42f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3e1358a1c2543c8"/>
  </p:sldMasterIdLst>
  <p:notesMasterIdLst>
    <p:notesMasterId xmlns:r="http://schemas.openxmlformats.org/officeDocument/2006/relationships" r:id="R26772dab106d4380"/>
  </p:notesMasterIdLst>
  <p:sldIdLst>
    <p:sldId xmlns:r="http://schemas.openxmlformats.org/officeDocument/2006/relationships" id="256" r:id="R5014e6287a1e4603"/>
    <p:sldId xmlns:r="http://schemas.openxmlformats.org/officeDocument/2006/relationships" id="257" r:id="Race9d0c35c8f4284"/>
    <p:sldId xmlns:r="http://schemas.openxmlformats.org/officeDocument/2006/relationships" id="258" r:id="R89915c7326d3497f"/>
    <p:sldId xmlns:r="http://schemas.openxmlformats.org/officeDocument/2006/relationships" id="259" r:id="R431258efe9d043a3"/>
    <p:sldId xmlns:r="http://schemas.openxmlformats.org/officeDocument/2006/relationships" id="260" r:id="R896f2a1f94ae4222"/>
    <p:sldId xmlns:r="http://schemas.openxmlformats.org/officeDocument/2006/relationships" id="261" r:id="R5977f3401b964d88"/>
    <p:sldId xmlns:r="http://schemas.openxmlformats.org/officeDocument/2006/relationships" id="262" r:id="R46f6a8cef13e4044"/>
    <p:sldId xmlns:r="http://schemas.openxmlformats.org/officeDocument/2006/relationships" id="263" r:id="R318322d58aa34a9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9f7cdd2f3ff4c05" /><Relationship Type="http://schemas.openxmlformats.org/officeDocument/2006/relationships/slideMaster" Target="/ppt/slideMasters/slideMaster1.xml" Id="Rd3e1358a1c2543c8" /><Relationship Type="http://schemas.openxmlformats.org/officeDocument/2006/relationships/notesMaster" Target="/ppt/notesMasters/notesMaster1.xml" Id="R26772dab106d4380" /><Relationship Type="http://schemas.openxmlformats.org/officeDocument/2006/relationships/presProps" Target="/ppt/presProps.xml" Id="R8237fe527adb4308" /><Relationship Type="http://schemas.openxmlformats.org/officeDocument/2006/relationships/tableStyles" Target="/ppt/tableStyles.xml" Id="Rf84c3c1a25324e42" /><Relationship Type="http://schemas.openxmlformats.org/officeDocument/2006/relationships/slide" Target="/ppt/slides/slide1.xml" Id="R5014e6287a1e4603" /><Relationship Type="http://schemas.openxmlformats.org/officeDocument/2006/relationships/slide" Target="/ppt/slides/slide2.xml" Id="Race9d0c35c8f4284" /><Relationship Type="http://schemas.openxmlformats.org/officeDocument/2006/relationships/slide" Target="/ppt/slides/slide3.xml" Id="R89915c7326d3497f" /><Relationship Type="http://schemas.openxmlformats.org/officeDocument/2006/relationships/slide" Target="/ppt/slides/slide4.xml" Id="R431258efe9d043a3" /><Relationship Type="http://schemas.openxmlformats.org/officeDocument/2006/relationships/slide" Target="/ppt/slides/slide5.xml" Id="R896f2a1f94ae4222" /><Relationship Type="http://schemas.openxmlformats.org/officeDocument/2006/relationships/slide" Target="/ppt/slides/slide6.xml" Id="R5977f3401b964d88" /><Relationship Type="http://schemas.openxmlformats.org/officeDocument/2006/relationships/slide" Target="/ppt/slides/slide7.xml" Id="R46f6a8cef13e4044" /><Relationship Type="http://schemas.openxmlformats.org/officeDocument/2006/relationships/slide" Target="/ppt/slides/slide8.xml" Id="R318322d58aa34a9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f2053dcc2a5469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b9cfda47964b03" /><Relationship Type="http://schemas.openxmlformats.org/officeDocument/2006/relationships/notesMaster" Target="/ppt/notesMasters/notesMaster1.xml" Id="R0204f46a3df747a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a0b6a2e94eb44e9" /><Relationship Type="http://schemas.openxmlformats.org/officeDocument/2006/relationships/notesMaster" Target="/ppt/notesMasters/notesMaster1.xml" Id="R1a7609572fe34a1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a5b4e7f4de14363" /><Relationship Type="http://schemas.openxmlformats.org/officeDocument/2006/relationships/notesMaster" Target="/ppt/notesMasters/notesMaster1.xml" Id="Ra614f27107934ca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091e342a6a14fc4" /><Relationship Type="http://schemas.openxmlformats.org/officeDocument/2006/relationships/notesMaster" Target="/ppt/notesMasters/notesMaster1.xml" Id="R5961acce8ce44a7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613c0808b204c54" /><Relationship Type="http://schemas.openxmlformats.org/officeDocument/2006/relationships/notesMaster" Target="/ppt/notesMasters/notesMaster1.xml" Id="R39a5be7f9ede460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30803810d7f47e8" /><Relationship Type="http://schemas.openxmlformats.org/officeDocument/2006/relationships/notesMaster" Target="/ppt/notesMasters/notesMaster1.xml" Id="Rff1f3367bda1425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0686e62fadc43b7" /><Relationship Type="http://schemas.openxmlformats.org/officeDocument/2006/relationships/notesMaster" Target="/ppt/notesMasters/notesMaster1.xml" Id="R72fb141ea9ad41b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2083d8cf5da41f0" /><Relationship Type="http://schemas.openxmlformats.org/officeDocument/2006/relationships/notesMaster" Target="/ppt/notesMasters/notesMaster1.xml" Id="R99f288bb4fa24e9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Todos los datos son sintéticos. El producto no representa una operación real.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dataset sintético generado por data/generate_synthetic.py.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estructura PBIP y PROJECT_SPEC.md del repositorio.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IW39 simulado. Datos sintéticos. El gráfico usa conteos de órdenes por tipo y 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IW29 e IH08 simulados. Datos sintéticos.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simuladas: IW39, IW47, KOB1, MB51 y CR03.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cartera A3 sintética y KOB1 simulado.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benchmark es orientativo. Los valores actuales son sintéticos y no constituyen una medición auditada.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d97ff167c7453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55942d987714f01" /><Relationship Type="http://schemas.openxmlformats.org/officeDocument/2006/relationships/slideLayout" Target="/ppt/slideLayouts/slideLayout1.xml" Id="R579b4e7252cf40f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9b4e7252cf40f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4d58beceae4d56" /><Relationship Type="http://schemas.openxmlformats.org/officeDocument/2006/relationships/notesSlide" Target="/ppt/notesSlides/notesSlide1.xml" Id="Rca7493d3137e4ea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aafb271a904c6e" /><Relationship Type="http://schemas.openxmlformats.org/officeDocument/2006/relationships/notesSlide" Target="/ppt/notesSlides/notesSlide2.xml" Id="R8aea8f8af6834bb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89098c71d84249" /><Relationship Type="http://schemas.openxmlformats.org/officeDocument/2006/relationships/notesSlide" Target="/ppt/notesSlides/notesSlide3.xml" Id="R18e571cc3ee44f6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742100bc4e46c5" /><Relationship Type="http://schemas.openxmlformats.org/officeDocument/2006/relationships/chart" Target="/ppt/slides/charts/chart1.xml" Id="Rf9606681ee1345c2" /><Relationship Type="http://schemas.openxmlformats.org/officeDocument/2006/relationships/notesSlide" Target="/ppt/notesSlides/notesSlide4.xml" Id="R05840926522b4d1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11f9daf37b48f3" /><Relationship Type="http://schemas.openxmlformats.org/officeDocument/2006/relationships/chart" Target="/ppt/slides/charts/chart2.xml" Id="R9b05ad9b56ed49a1" /><Relationship Type="http://schemas.openxmlformats.org/officeDocument/2006/relationships/notesSlide" Target="/ppt/notesSlides/notesSlide5.xml" Id="R5bc75b2f51114b5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a9586125954def" /><Relationship Type="http://schemas.openxmlformats.org/officeDocument/2006/relationships/notesSlide" Target="/ppt/notesSlides/notesSlide6.xml" Id="R83b40e358038429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8617fcfd6b4711" /><Relationship Type="http://schemas.openxmlformats.org/officeDocument/2006/relationships/chart" Target="/ppt/slides/charts/chart3.xml" Id="R2207cca688924218" /><Relationship Type="http://schemas.openxmlformats.org/officeDocument/2006/relationships/notesSlide" Target="/ppt/notesSlides/notesSlide7.xml" Id="Rfd5b2dc1389f4db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32ccfd387e40d4" /><Relationship Type="http://schemas.openxmlformats.org/officeDocument/2006/relationships/notesSlide" Target="/ppt/notesSlides/notesSlide8.xml" Id="R63b811ff33bb484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Arial"/>
                <a:ea typeface="Arial"/>
                <a:cs typeface="Arial"/>
              </a:rPr>
              <a:t>Órdenes por mes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ser>
          <c:idx val="0"/>
          <c:order val="0"/>
          <c:tx>
            <c:v>Correctivo</c:v>
          </c:tx>
          <c:spPr>
            <a:ln xmlns:a="http://schemas.openxmlformats.org/drawingml/2006/main" w="28575">
              <a:solidFill>
                <a:srgbClr val="B42318"/>
              </a:solidFill>
            </a:ln>
          </c:spPr>
          <c:marker>
            <c:symbol val="none"/>
          </c:marker>
          <c:cat>
            <c:strRef>
              <c:f>'Chart Data'!$A$2:$A$25</c:f>
              <c:strCache>
                <c:ptCount val="24"/>
                <c:pt idx="0">
                  <c:v>Ene 25</c:v>
                </c:pt>
                <c:pt idx="1">
                  <c:v>Feb 25</c:v>
                </c:pt>
                <c:pt idx="2">
                  <c:v>Mar 25</c:v>
                </c:pt>
                <c:pt idx="3">
                  <c:v>Abr 25</c:v>
                </c:pt>
                <c:pt idx="4">
                  <c:v>May 25</c:v>
                </c:pt>
                <c:pt idx="5">
                  <c:v>Jun 25</c:v>
                </c:pt>
                <c:pt idx="6">
                  <c:v>Jul 25</c:v>
                </c:pt>
                <c:pt idx="7">
                  <c:v>Ago 25</c:v>
                </c:pt>
                <c:pt idx="8">
                  <c:v>Sep 25</c:v>
                </c:pt>
                <c:pt idx="9">
                  <c:v>Oct 25</c:v>
                </c:pt>
                <c:pt idx="10">
                  <c:v>Nov 25</c:v>
                </c:pt>
                <c:pt idx="11">
                  <c:v>Dic 25</c:v>
                </c:pt>
                <c:pt idx="12">
                  <c:v>Ene 26</c:v>
                </c:pt>
                <c:pt idx="13">
                  <c:v>Feb 26</c:v>
                </c:pt>
                <c:pt idx="14">
                  <c:v>Mar 26</c:v>
                </c:pt>
                <c:pt idx="15">
                  <c:v>Abr 26</c:v>
                </c:pt>
                <c:pt idx="16">
                  <c:v>May 26</c:v>
                </c:pt>
                <c:pt idx="17">
                  <c:v>Jun 26</c:v>
                </c:pt>
                <c:pt idx="18">
                  <c:v>Jul 26</c:v>
                </c:pt>
                <c:pt idx="19">
                  <c:v>Ago 26</c:v>
                </c:pt>
                <c:pt idx="20">
                  <c:v>Sep 26</c:v>
                </c:pt>
                <c:pt idx="21">
                  <c:v>Oct 26</c:v>
                </c:pt>
                <c:pt idx="22">
                  <c:v>Nov 26</c:v>
                </c:pt>
                <c:pt idx="23">
                  <c:v>Dic 26</c:v>
                </c:pt>
              </c:strCache>
            </c:strRef>
          </c:cat>
          <c:val>
            <c:numRef>
              <c:f>'Chart Data'!$B$2:$B$25</c:f>
              <c:numCache>
                <c:formatCode>General</c:formatCode>
                <c:ptCount val="24"/>
                <c:pt idx="0">
                  <c:v>56</c:v>
                </c:pt>
                <c:pt idx="1">
                  <c:v>37</c:v>
                </c:pt>
                <c:pt idx="2">
                  <c:v>42</c:v>
                </c:pt>
                <c:pt idx="3">
                  <c:v>33</c:v>
                </c:pt>
                <c:pt idx="4">
                  <c:v>31</c:v>
                </c:pt>
                <c:pt idx="5">
                  <c:v>32</c:v>
                </c:pt>
                <c:pt idx="6">
                  <c:v>42</c:v>
                </c:pt>
                <c:pt idx="7">
                  <c:v>31</c:v>
                </c:pt>
                <c:pt idx="8">
                  <c:v>37</c:v>
                </c:pt>
                <c:pt idx="9">
                  <c:v>33</c:v>
                </c:pt>
                <c:pt idx="10">
                  <c:v>37</c:v>
                </c:pt>
                <c:pt idx="11">
                  <c:v>38</c:v>
                </c:pt>
                <c:pt idx="12">
                  <c:v>41</c:v>
                </c:pt>
                <c:pt idx="13">
                  <c:v>41</c:v>
                </c:pt>
                <c:pt idx="14">
                  <c:v>31</c:v>
                </c:pt>
                <c:pt idx="15">
                  <c:v>24</c:v>
                </c:pt>
                <c:pt idx="16">
                  <c:v>22</c:v>
                </c:pt>
                <c:pt idx="17">
                  <c:v>36</c:v>
                </c:pt>
                <c:pt idx="18">
                  <c:v>28</c:v>
                </c:pt>
                <c:pt idx="19">
                  <c:v>26</c:v>
                </c:pt>
                <c:pt idx="20">
                  <c:v>25</c:v>
                </c:pt>
                <c:pt idx="21">
                  <c:v>28</c:v>
                </c:pt>
                <c:pt idx="22">
                  <c:v>22</c:v>
                </c:pt>
                <c:pt idx="23">
                  <c:v>24</c:v>
                </c:pt>
              </c:numCache>
            </c:numRef>
          </c:val>
        </c:ser>
        <c:ser>
          <c:idx val="1"/>
          <c:order val="1"/>
          <c:tx>
            <c:v>Preventivo</c:v>
          </c:tx>
          <c:spPr>
            <a:ln xmlns:a="http://schemas.openxmlformats.org/drawingml/2006/main" w="28575">
              <a:solidFill>
                <a:srgbClr val="2F6FED"/>
              </a:solidFill>
            </a:ln>
          </c:spPr>
          <c:marker>
            <c:symbol val="none"/>
          </c:marker>
          <c:cat>
            <c:strRef>
              <c:f>'Chart Data'!$C$2:$C$25</c:f>
              <c:strCache>
                <c:ptCount val="24"/>
                <c:pt idx="0">
                  <c:v>Ene 25</c:v>
                </c:pt>
                <c:pt idx="1">
                  <c:v>Feb 25</c:v>
                </c:pt>
                <c:pt idx="2">
                  <c:v>Mar 25</c:v>
                </c:pt>
                <c:pt idx="3">
                  <c:v>Abr 25</c:v>
                </c:pt>
                <c:pt idx="4">
                  <c:v>May 25</c:v>
                </c:pt>
                <c:pt idx="5">
                  <c:v>Jun 25</c:v>
                </c:pt>
                <c:pt idx="6">
                  <c:v>Jul 25</c:v>
                </c:pt>
                <c:pt idx="7">
                  <c:v>Ago 25</c:v>
                </c:pt>
                <c:pt idx="8">
                  <c:v>Sep 25</c:v>
                </c:pt>
                <c:pt idx="9">
                  <c:v>Oct 25</c:v>
                </c:pt>
                <c:pt idx="10">
                  <c:v>Nov 25</c:v>
                </c:pt>
                <c:pt idx="11">
                  <c:v>Dic 25</c:v>
                </c:pt>
                <c:pt idx="12">
                  <c:v>Ene 26</c:v>
                </c:pt>
                <c:pt idx="13">
                  <c:v>Feb 26</c:v>
                </c:pt>
                <c:pt idx="14">
                  <c:v>Mar 26</c:v>
                </c:pt>
                <c:pt idx="15">
                  <c:v>Abr 26</c:v>
                </c:pt>
                <c:pt idx="16">
                  <c:v>May 26</c:v>
                </c:pt>
                <c:pt idx="17">
                  <c:v>Jun 26</c:v>
                </c:pt>
                <c:pt idx="18">
                  <c:v>Jul 26</c:v>
                </c:pt>
                <c:pt idx="19">
                  <c:v>Ago 26</c:v>
                </c:pt>
                <c:pt idx="20">
                  <c:v>Sep 26</c:v>
                </c:pt>
                <c:pt idx="21">
                  <c:v>Oct 26</c:v>
                </c:pt>
                <c:pt idx="22">
                  <c:v>Nov 26</c:v>
                </c:pt>
                <c:pt idx="23">
                  <c:v>Dic 26</c:v>
                </c:pt>
              </c:strCache>
            </c:strRef>
          </c:cat>
          <c:val>
            <c:numRef>
              <c:f>'Chart Data'!$D$2:$D$25</c:f>
              <c:numCache>
                <c:formatCode>General</c:formatCode>
                <c:ptCount val="24"/>
                <c:pt idx="0">
                  <c:v>64</c:v>
                </c:pt>
                <c:pt idx="1">
                  <c:v>78</c:v>
                </c:pt>
                <c:pt idx="2">
                  <c:v>57</c:v>
                </c:pt>
                <c:pt idx="3">
                  <c:v>66</c:v>
                </c:pt>
                <c:pt idx="4">
                  <c:v>65</c:v>
                </c:pt>
                <c:pt idx="5">
                  <c:v>68</c:v>
                </c:pt>
                <c:pt idx="6">
                  <c:v>71</c:v>
                </c:pt>
                <c:pt idx="7">
                  <c:v>74</c:v>
                </c:pt>
                <c:pt idx="8">
                  <c:v>66</c:v>
                </c:pt>
                <c:pt idx="9">
                  <c:v>62</c:v>
                </c:pt>
                <c:pt idx="10">
                  <c:v>74</c:v>
                </c:pt>
                <c:pt idx="11">
                  <c:v>75</c:v>
                </c:pt>
                <c:pt idx="12">
                  <c:v>82</c:v>
                </c:pt>
                <c:pt idx="13">
                  <c:v>80</c:v>
                </c:pt>
                <c:pt idx="14">
                  <c:v>78</c:v>
                </c:pt>
                <c:pt idx="15">
                  <c:v>71</c:v>
                </c:pt>
                <c:pt idx="16">
                  <c:v>88</c:v>
                </c:pt>
                <c:pt idx="17">
                  <c:v>75</c:v>
                </c:pt>
                <c:pt idx="18">
                  <c:v>85</c:v>
                </c:pt>
                <c:pt idx="19">
                  <c:v>86</c:v>
                </c:pt>
                <c:pt idx="20">
                  <c:v>74</c:v>
                </c:pt>
                <c:pt idx="21">
                  <c:v>70</c:v>
                </c:pt>
                <c:pt idx="22">
                  <c:v>93</c:v>
                </c:pt>
                <c:pt idx="23">
                  <c:v>90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Arial"/>
                <a:ea typeface="Arial"/>
                <a:cs typeface="Arial"/>
              </a:rPr>
              <a:t>Avisos acumulados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Avisos</c:v>
          </c:tx>
          <c:spPr>
            <a:solidFill xmlns:a="http://schemas.openxmlformats.org/drawingml/2006/main">
              <a:srgbClr val="D97706"/>
            </a:solidFill>
          </c:spPr>
          <c:cat>
            <c:strRef>
              <c:f>'Chart Data'!$A$2:$A$8</c:f>
              <c:strCache>
                <c:ptCount val="7"/>
                <c:pt idx="0">
                  <c:v>Envasadora L2</c:v>
                </c:pt>
                <c:pt idx="1">
                  <c:v>Etiquetadora L1</c:v>
                </c:pt>
                <c:pt idx="2">
                  <c:v>Compresor 3</c:v>
                </c:pt>
                <c:pt idx="3">
                  <c:v>Reactor P1</c:v>
                </c:pt>
                <c:pt idx="4">
                  <c:v>Envasadora L1</c:v>
                </c:pt>
                <c:pt idx="5">
                  <c:v>Bomba CIP</c:v>
                </c:pt>
                <c:pt idx="6">
                  <c:v>Etiquetadora L2</c:v>
                </c:pt>
              </c:strCache>
            </c:strRef>
          </c:cat>
          <c:val>
            <c:numRef>
              <c:f>'Chart Data'!$B$2:$B$8</c:f>
              <c:numCache>
                <c:formatCode>General</c:formatCode>
                <c:ptCount val="7"/>
                <c:pt idx="0">
                  <c:v>440</c:v>
                </c:pt>
                <c:pt idx="1">
                  <c:v>227</c:v>
                </c:pt>
                <c:pt idx="2">
                  <c:v>223</c:v>
                </c:pt>
                <c:pt idx="3">
                  <c:v>208</c:v>
                </c:pt>
                <c:pt idx="4">
                  <c:v>195</c:v>
                </c:pt>
                <c:pt idx="5">
                  <c:v>170</c:v>
                </c:pt>
                <c:pt idx="6">
                  <c:v>156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Arial"/>
                <a:ea typeface="Arial"/>
                <a:cs typeface="Arial"/>
              </a:rPr>
              <a:t>Iniciativas por fase PDCA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A3</c:v>
          </c:tx>
          <c:spPr>
            <a:solidFill xmlns:a="http://schemas.openxmlformats.org/drawingml/2006/main">
              <a:srgbClr val="2F6FED"/>
            </a:solidFill>
          </c:spPr>
          <c:cat>
            <c:strRef>
              <c:f>'Chart Data'!$A$2:$A$5</c:f>
              <c:strCache>
                <c:ptCount val="4"/>
                <c:pt idx="0">
                  <c:v>Act</c:v>
                </c:pt>
                <c:pt idx="1">
                  <c:v>Check</c:v>
                </c:pt>
                <c:pt idx="2">
                  <c:v>Do</c:v>
                </c:pt>
                <c:pt idx="3">
                  <c:v>Plan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3</c:v>
                </c:pt>
                <c:pt idx="1">
                  <c:v>2</c:v>
                </c:pt>
                <c:pt idx="2">
                  <c:v>4</c:v>
                </c:pt>
                <c:pt idx="3">
                  <c:v>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1C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63AE5A-33B6-409F-B6A2-A91B92FE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Maintenance Performance Suite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1CA41D-C331-4A00-A0EC-3F6CD7CCD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D7E3F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7E3F8"/>
                </a:solidFill>
                <a:latin typeface="Arial"/>
                <a:ea typeface="Arial"/>
                <a:cs typeface="Arial"/>
              </a:rPr>
              <a:t>Sistema analítico para mantenimiento industrial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9C9A06-FEF4-424E-BDED-6F4EEDCB7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FC6E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FC6EA"/>
                </a:solidFill>
                <a:latin typeface="Arial"/>
                <a:ea typeface="Arial"/>
                <a:cs typeface="Arial"/>
              </a:rPr>
              <a:t>SAP PM MM CO PP  |  Power BI  |  Mejora Enfocada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C77418-C9DE-4AE1-A462-18EE7E8DF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AAED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AAED0"/>
                </a:solidFill>
                <a:latin typeface="Arial"/>
                <a:ea typeface="Arial"/>
                <a:cs typeface="Arial"/>
              </a:rPr>
              <a:t>Datos sintéticos</a:t>
            </a:r>
          </a:p>
        </p:txBody>
      </p:sp>
    </p:spTree>
    <p:extLst>
      <p:ext uri="{BB962C8B-B14F-4D97-AF65-F5344CB8AC3E}">
        <p14:creationId xmlns:p14="http://schemas.microsoft.com/office/powerpoint/2010/main" val="10109989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9501C1-373C-49E2-9700-D79EDA283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C33"/>
                </a:solidFill>
                <a:latin typeface="Arial"/>
                <a:ea typeface="Arial"/>
                <a:cs typeface="Arial"/>
              </a:rPr>
              <a:t>Resumen ejecutivo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9B280E-059C-4E7C-97F5-72957A07B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9530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FCABCC-87E7-491E-9765-57813549D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F6FE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6FED"/>
                </a:solidFill>
                <a:latin typeface="Arial"/>
                <a:ea typeface="Arial"/>
                <a:cs typeface="Arial"/>
              </a:rPr>
              <a:t>3.044 órdenes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58D4CB-A2A9-4F3D-86B8-19DF7F75B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476375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2.623 avisos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DA72FD-F841-4742-9102-998C31E4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76375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805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805C"/>
                </a:solidFill>
                <a:latin typeface="Arial"/>
                <a:ea typeface="Arial"/>
                <a:cs typeface="Arial"/>
              </a:rPr>
              <a:t>90.9% disponibilidad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BF30B2-AC9E-4325-866E-7909A458C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24125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E1C33"/>
                </a:solidFill>
                <a:latin typeface="Arial"/>
                <a:ea typeface="Arial"/>
                <a:cs typeface="Arial"/>
              </a:rPr>
              <a:t>M$ 2173.1 costo real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BB92E2-4870-4E05-9A82-CC846A79D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524125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F6FE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F6FED"/>
                </a:solidFill>
                <a:latin typeface="Arial"/>
                <a:ea typeface="Arial"/>
                <a:cs typeface="Arial"/>
              </a:rPr>
              <a:t>M$ 31.8 ahorro validado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779BB1-68CB-41B0-A3F3-70F6E2606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14750"/>
            <a:ext cx="9906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800" b="0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E1C33"/>
                </a:solidFill>
                <a:latin typeface="Arial"/>
                <a:ea typeface="Arial"/>
                <a:cs typeface="Arial"/>
              </a:rPr>
              <a:t>La base cubre 24 meses y concentra las fallas en pocos activos.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800" b="0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E1C33"/>
                </a:solidFill>
                <a:latin typeface="Arial"/>
                <a:ea typeface="Arial"/>
                <a:cs typeface="Arial"/>
              </a:rPr>
              <a:t>El modelo conecta costo, confiabilidad, backlog y cumplimiento preventivo.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800" b="0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E1C33"/>
                </a:solidFill>
                <a:latin typeface="Arial"/>
                <a:ea typeface="Arial"/>
                <a:cs typeface="Arial"/>
              </a:rPr>
              <a:t>La cartera A3 exige ahorro confirmado y actualización del estándar.</a:t>
            </a:r>
          </a:p>
        </p:txBody>
      </p:sp>
    </p:spTree>
    <p:extLst>
      <p:ext uri="{BB962C8B-B14F-4D97-AF65-F5344CB8AC3E}">
        <p14:creationId xmlns:p14="http://schemas.microsoft.com/office/powerpoint/2010/main" val="1539518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3B1D1D-CD58-448E-8DE0-E0B31F7DD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C33"/>
                </a:solidFill>
                <a:latin typeface="Arial"/>
                <a:ea typeface="Arial"/>
                <a:cs typeface="Arial"/>
              </a:rPr>
              <a:t>Arquitectura del producto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0A1A6B-F3D5-4427-942B-9B8A89281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9530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FDC06E-4CD3-4325-8C4B-7BD6D608D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200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2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C33"/>
                </a:solidFill>
                <a:latin typeface="Arial"/>
                <a:ea typeface="Arial"/>
                <a:cs typeface="Arial"/>
              </a:rPr>
              <a:t>SAP PM MM CO PP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34B47C-4C78-48FD-AE64-D1EA787C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619250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F6FE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F6FED"/>
                </a:solidFill>
                <a:latin typeface="Arial"/>
                <a:ea typeface="Arial"/>
                <a:cs typeface="Arial"/>
              </a:rPr>
              <a:t>Power Query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33D0E0-DB88-4E44-AEA0-589B450C1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619250"/>
            <a:ext cx="180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C33"/>
                </a:solidFill>
                <a:latin typeface="Arial"/>
                <a:ea typeface="Arial"/>
                <a:cs typeface="Arial"/>
              </a:rPr>
              <a:t>Modelo TMDL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999FC5-5664-4A64-AF04-96DCA2C57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61925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498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F6FE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F6FED"/>
                </a:solidFill>
                <a:latin typeface="Arial"/>
                <a:ea typeface="Arial"/>
                <a:cs typeface="Arial"/>
              </a:rPr>
              <a:t>79 medidas DAX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EAA0C4-2B7C-4486-BC30-B9DE71BEF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619250"/>
            <a:ext cx="180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3852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C33"/>
                </a:solidFill>
                <a:latin typeface="Arial"/>
                <a:ea typeface="Arial"/>
                <a:cs typeface="Arial"/>
              </a:rPr>
              <a:t>12 páginas PBIR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0AE57F-D54B-4521-B6DC-D6A85B5C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E1C33"/>
                </a:solidFill>
                <a:latin typeface="Arial"/>
                <a:ea typeface="Arial"/>
                <a:cs typeface="Arial"/>
              </a:rPr>
              <a:t>Cada capa conserva la fuente, el grano y la definición del indicador.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FC5E40-1F04-4123-A30B-54595CC39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14750"/>
            <a:ext cx="8572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875" b="0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E1C33"/>
                </a:solidFill>
                <a:latin typeface="Arial"/>
                <a:ea typeface="Arial"/>
                <a:cs typeface="Arial"/>
              </a:rPr>
              <a:t>15 tablas semánticas con relaciones controladas.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875" b="0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E1C33"/>
                </a:solidFill>
                <a:latin typeface="Arial"/>
                <a:ea typeface="Arial"/>
                <a:cs typeface="Arial"/>
              </a:rPr>
              <a:t>174 visuales con transacción SAP visible.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875" b="0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E1C33"/>
                </a:solidFill>
                <a:latin typeface="Arial"/>
                <a:ea typeface="Arial"/>
                <a:cs typeface="Arial"/>
              </a:rPr>
              <a:t>Build reproducible, pruebas automatizadas y publicación continua.</a:t>
            </a:r>
          </a:p>
        </p:txBody>
      </p:sp>
    </p:spTree>
    <p:extLst>
      <p:ext uri="{BB962C8B-B14F-4D97-AF65-F5344CB8AC3E}">
        <p14:creationId xmlns:p14="http://schemas.microsoft.com/office/powerpoint/2010/main" val="9482260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368209-523C-4F01-9D6B-F679AF0C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C33"/>
                </a:solidFill>
                <a:latin typeface="Arial"/>
                <a:ea typeface="Arial"/>
                <a:cs typeface="Arial"/>
              </a:rPr>
              <a:t>El mix correctivo disminuye durante el período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702E2A-6881-4F1C-96C8-FE4835B8D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9530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6" name="Chart"/>
          <p:cNvGraphicFramePr/>
          <p:nvPr/>
        </p:nvGraphicFramePr>
        <p:xfrm>
          <a:off xmlns:a="http://schemas.openxmlformats.org/drawingml/2006/main" x="857250" y="1428750"/>
          <a:ext xmlns:a="http://schemas.openxmlformats.org/drawingml/2006/main" cx="104775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9606681ee1345c2"/>
          </a:graphicData>
        </a:graphic>
      </p:graphicFrame>
    </p:spTree>
    <p:extLst>
      <p:ext uri="{BB962C8B-B14F-4D97-AF65-F5344CB8AC3E}">
        <p14:creationId xmlns:p14="http://schemas.microsoft.com/office/powerpoint/2010/main" val="16070537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89CEC5-523D-4D92-8972-D72BB9276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C33"/>
                </a:solidFill>
                <a:latin typeface="Arial"/>
                <a:ea typeface="Arial"/>
                <a:cs typeface="Arial"/>
              </a:rPr>
              <a:t>Activos que concentran las fallas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C65B01-8F10-46D4-8741-1092F3179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9530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6" name="Chart"/>
          <p:cNvGraphicFramePr/>
          <p:nvPr/>
        </p:nvGraphicFramePr>
        <p:xfrm>
          <a:off xmlns:a="http://schemas.openxmlformats.org/drawingml/2006/main" x="952500" y="1428750"/>
          <a:ext xmlns:a="http://schemas.openxmlformats.org/drawingml/2006/main" cx="10287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b05ad9b56ed49a1"/>
          </a:graphicData>
        </a:graphic>
      </p:graphicFrame>
    </p:spTree>
    <p:extLst>
      <p:ext uri="{BB962C8B-B14F-4D97-AF65-F5344CB8AC3E}">
        <p14:creationId xmlns:p14="http://schemas.microsoft.com/office/powerpoint/2010/main" val="5097750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7867E5-A29F-4B53-8F48-AEC321432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C33"/>
                </a:solidFill>
                <a:latin typeface="Arial"/>
                <a:ea typeface="Arial"/>
                <a:cs typeface="Arial"/>
              </a:rPr>
              <a:t>Costo y capacidad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126ECD-3C5A-460D-8263-F80E699F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9530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1FA341-051B-4FBB-974A-251DE6CD8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457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C33"/>
                </a:solidFill>
                <a:latin typeface="Arial"/>
                <a:ea typeface="Arial"/>
                <a:cs typeface="Arial"/>
              </a:rPr>
              <a:t>Costo real M$ 2173.1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2BFC87-88CA-44B2-ADC1-8747A76BA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76375"/>
            <a:ext cx="400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F6FE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6FED"/>
                </a:solidFill>
                <a:latin typeface="Arial"/>
                <a:ea typeface="Arial"/>
                <a:cs typeface="Arial"/>
              </a:rPr>
              <a:t>Plan M$ 2200.0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7748CB-1647-41E6-A502-46FD5DFFA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575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2025" b="0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E1C33"/>
                </a:solidFill>
                <a:latin typeface="Arial"/>
                <a:ea typeface="Arial"/>
                <a:cs typeface="Arial"/>
              </a:rPr>
              <a:t>Backlog abierto: 3484 HH pendientes.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2025" b="0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E1C33"/>
                </a:solidFill>
                <a:latin typeface="Arial"/>
                <a:ea typeface="Arial"/>
                <a:cs typeface="Arial"/>
              </a:rPr>
              <a:t>8 órdenes esperan repuesto en el período seleccionado.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2025" b="0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E1C33"/>
                </a:solidFill>
                <a:latin typeface="Arial"/>
                <a:ea typeface="Arial"/>
                <a:cs typeface="Arial"/>
              </a:rPr>
              <a:t>El correctivo muestra mayor dispersión de costo que el preventivo.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FF8F51-6EAF-44C2-A947-34C868795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91125"/>
            <a:ext cx="971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Prioridad: programación semanal por especialidad y protección de repuestos A.</a:t>
            </a:r>
          </a:p>
        </p:txBody>
      </p:sp>
    </p:spTree>
    <p:extLst>
      <p:ext uri="{BB962C8B-B14F-4D97-AF65-F5344CB8AC3E}">
        <p14:creationId xmlns:p14="http://schemas.microsoft.com/office/powerpoint/2010/main" val="18483472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281AC5-4965-45B9-AE67-276FD3046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C33"/>
                </a:solidFill>
                <a:latin typeface="Arial"/>
                <a:ea typeface="Arial"/>
                <a:cs typeface="Arial"/>
              </a:rPr>
              <a:t>Cartera de mejora enfocada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3729B1-AC78-480D-B5C4-F4C5388C7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9530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857250" y="1476375"/>
          <a:ext xmlns:a="http://schemas.openxmlformats.org/drawingml/2006/main" cx="476250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207cca688924218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E385E1-3461-4245-8444-5DB3D996A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002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2805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2805C"/>
                </a:solidFill>
                <a:latin typeface="Arial"/>
                <a:ea typeface="Arial"/>
                <a:cs typeface="Arial"/>
              </a:rPr>
              <a:t>M$ 31.8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68543C-9800-4E1A-BCCF-FA009F5CE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14625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Ahorro validado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D354A1-62DE-4F69-8A10-40B57C9EB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71875"/>
            <a:ext cx="4286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725" b="0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E1C33"/>
                </a:solidFill>
                <a:latin typeface="Arial"/>
                <a:ea typeface="Arial"/>
                <a:cs typeface="Arial"/>
              </a:rPr>
              <a:t>Las iniciativas se originan en pérdidas cuantificadas.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725" b="0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E1C33"/>
                </a:solidFill>
                <a:latin typeface="Arial"/>
                <a:ea typeface="Arial"/>
                <a:cs typeface="Arial"/>
              </a:rPr>
              <a:t>El cierre exige verificación en CO.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725" b="0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E1C33"/>
                </a:solidFill>
                <a:latin typeface="Arial"/>
                <a:ea typeface="Arial"/>
                <a:cs typeface="Arial"/>
              </a:rPr>
              <a:t>Act requiere actualizar el plan preventivo.</a:t>
            </a:r>
          </a:p>
        </p:txBody>
      </p:sp>
    </p:spTree>
    <p:extLst>
      <p:ext uri="{BB962C8B-B14F-4D97-AF65-F5344CB8AC3E}">
        <p14:creationId xmlns:p14="http://schemas.microsoft.com/office/powerpoint/2010/main" val="11779999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E1C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73C67E-B3F3-4B5E-A0E0-5E2AAF900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C33"/>
                </a:solidFill>
                <a:latin typeface="Arial"/>
                <a:ea typeface="Arial"/>
                <a:cs typeface="Arial"/>
              </a:rPr>
              <a:t>Decisiones para la implementación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8C8EB0-9789-4FC6-AEA9-6FD085774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9530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9CBA2F-3CB5-4B53-9F47-1B1C6F716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192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7FB0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FB0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A2A324-E2F2-4290-BCA9-F9F560F70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581150"/>
            <a:ext cx="838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Asignar dueño por KPI y por fuente SAP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2F19D9-14F5-48EE-85D3-20B8B1F85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1462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7FB0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FB0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D1C14F-A574-43E1-9742-31F3D1BCC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76525"/>
            <a:ext cx="904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Reconciliar los ocho KPI principales con tolerancia de 1%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0AD298-5D6F-44F7-89F6-84C412516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100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7FB0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FB0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462E37-FBDF-47F0-BAFE-DE28CE344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719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Publicar el piloto y cerrar la primera mejora con ahorro confirmado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1C7DF3-4EFD-407C-8147-0AE9E7FD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38750"/>
            <a:ext cx="876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C7D8F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7D8F5"/>
                </a:solidFill>
                <a:latin typeface="Arial"/>
                <a:ea typeface="Arial"/>
                <a:cs typeface="Arial"/>
              </a:rPr>
              <a:t>El OEE permanece parcial hasta integrar velocidad y calidad de línea.</a:t>
            </a:r>
          </a:p>
        </p:txBody>
      </p:sp>
    </p:spTree>
    <p:extLst>
      <p:ext uri="{BB962C8B-B14F-4D97-AF65-F5344CB8AC3E}">
        <p14:creationId xmlns:p14="http://schemas.microsoft.com/office/powerpoint/2010/main" val="7390266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2026-09-24T21:49:49.2090000Z</dcterms:created>
  <dcterms:modified xsi:type="dcterms:W3CDTF">2026-09-24T21:49:49.2090000Z</dcterms:modified>
</coreProperties>
</file>