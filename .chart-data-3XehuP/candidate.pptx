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5c3a30840c45f2" /><Relationship Type="http://schemas.openxmlformats.org/officeDocument/2006/relationships/extended-properties" Target="/docProps/app.xml" Id="R14d29450e0274c5e" /><Relationship Type="http://schemas.openxmlformats.org/officeDocument/2006/relationships/officeDocument" Target="/ppt/presentation.xml" Id="R1e0a4c0c663e4f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b23a1958584b3c"/>
  </p:sldMasterIdLst>
  <p:notesMasterIdLst>
    <p:notesMasterId xmlns:r="http://schemas.openxmlformats.org/officeDocument/2006/relationships" r:id="R0281210418944a73"/>
  </p:notesMasterIdLst>
  <p:sldIdLst>
    <p:sldId xmlns:r="http://schemas.openxmlformats.org/officeDocument/2006/relationships" id="256" r:id="R31d61cc9794243eb"/>
    <p:sldId xmlns:r="http://schemas.openxmlformats.org/officeDocument/2006/relationships" id="257" r:id="R5190e67610be4c8a"/>
    <p:sldId xmlns:r="http://schemas.openxmlformats.org/officeDocument/2006/relationships" id="258" r:id="R65c26fe0cf8e43a1"/>
    <p:sldId xmlns:r="http://schemas.openxmlformats.org/officeDocument/2006/relationships" id="259" r:id="R2187a431bf564899"/>
    <p:sldId xmlns:r="http://schemas.openxmlformats.org/officeDocument/2006/relationships" id="260" r:id="R3c809b600ee942a4"/>
    <p:sldId xmlns:r="http://schemas.openxmlformats.org/officeDocument/2006/relationships" id="261" r:id="R937783487c0d48d6"/>
    <p:sldId xmlns:r="http://schemas.openxmlformats.org/officeDocument/2006/relationships" id="262" r:id="R0d5136f6a70d4206"/>
    <p:sldId xmlns:r="http://schemas.openxmlformats.org/officeDocument/2006/relationships" id="263" r:id="Rd86b6968483d41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c043eba2b74b2b" /><Relationship Type="http://schemas.openxmlformats.org/officeDocument/2006/relationships/slideMaster" Target="/ppt/slideMasters/slideMaster1.xml" Id="R53b23a1958584b3c" /><Relationship Type="http://schemas.openxmlformats.org/officeDocument/2006/relationships/notesMaster" Target="/ppt/notesMasters/notesMaster1.xml" Id="R0281210418944a73" /><Relationship Type="http://schemas.openxmlformats.org/officeDocument/2006/relationships/presProps" Target="/ppt/presProps.xml" Id="R8808e8c3ed3a457d" /><Relationship Type="http://schemas.openxmlformats.org/officeDocument/2006/relationships/tableStyles" Target="/ppt/tableStyles.xml" Id="R2985c06dc15a458a" /><Relationship Type="http://schemas.openxmlformats.org/officeDocument/2006/relationships/slide" Target="/ppt/slides/slide1.xml" Id="R31d61cc9794243eb" /><Relationship Type="http://schemas.openxmlformats.org/officeDocument/2006/relationships/slide" Target="/ppt/slides/slide2.xml" Id="R5190e67610be4c8a" /><Relationship Type="http://schemas.openxmlformats.org/officeDocument/2006/relationships/slide" Target="/ppt/slides/slide3.xml" Id="R65c26fe0cf8e43a1" /><Relationship Type="http://schemas.openxmlformats.org/officeDocument/2006/relationships/slide" Target="/ppt/slides/slide4.xml" Id="R2187a431bf564899" /><Relationship Type="http://schemas.openxmlformats.org/officeDocument/2006/relationships/slide" Target="/ppt/slides/slide5.xml" Id="R3c809b600ee942a4" /><Relationship Type="http://schemas.openxmlformats.org/officeDocument/2006/relationships/slide" Target="/ppt/slides/slide6.xml" Id="R937783487c0d48d6" /><Relationship Type="http://schemas.openxmlformats.org/officeDocument/2006/relationships/slide" Target="/ppt/slides/slide7.xml" Id="R0d5136f6a70d4206" /><Relationship Type="http://schemas.openxmlformats.org/officeDocument/2006/relationships/slide" Target="/ppt/slides/slide8.xml" Id="Rd86b6968483d41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c665de5ad145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d55a68a0cb47b5" /><Relationship Type="http://schemas.openxmlformats.org/officeDocument/2006/relationships/notesMaster" Target="/ppt/notesMasters/notesMaster1.xml" Id="Re63a703e8e4a40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832f0ed7d1416c" /><Relationship Type="http://schemas.openxmlformats.org/officeDocument/2006/relationships/notesMaster" Target="/ppt/notesMasters/notesMaster1.xml" Id="Rdeade5d44b894f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36a167fbee4845" /><Relationship Type="http://schemas.openxmlformats.org/officeDocument/2006/relationships/notesMaster" Target="/ppt/notesMasters/notesMaster1.xml" Id="Rf7c74902e75a4a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27422c09e344b4" /><Relationship Type="http://schemas.openxmlformats.org/officeDocument/2006/relationships/notesMaster" Target="/ppt/notesMasters/notesMaster1.xml" Id="Reee074dfdb6843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3693aeaabc41b5" /><Relationship Type="http://schemas.openxmlformats.org/officeDocument/2006/relationships/notesMaster" Target="/ppt/notesMasters/notesMaster1.xml" Id="R31594ee6adcb45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25e1ce07e64fe0" /><Relationship Type="http://schemas.openxmlformats.org/officeDocument/2006/relationships/notesMaster" Target="/ppt/notesMasters/notesMaster1.xml" Id="R7b165b312cc249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cca62fb7944715" /><Relationship Type="http://schemas.openxmlformats.org/officeDocument/2006/relationships/notesMaster" Target="/ppt/notesMasters/notesMaster1.xml" Id="Rff6b84f5143143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a2d86cdb8c42a6" /><Relationship Type="http://schemas.openxmlformats.org/officeDocument/2006/relationships/notesMaster" Target="/ppt/notesMasters/notesMaster1.xml" Id="R829a01efa31d45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Todos los datos son sintéticos. El producto no representa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dataset sintético generado por data/generate_synthetic.py.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estructura PBIP y PROJECT_SPEC.md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IW39 simulado. Datos sintéticos. El gráfico usa conteos de órdenes por tipo y 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IW29 e IH08 simulados. Datos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simuladas: IW39, IW47, KOB1, MB51 y CR03.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cartera A3 sintética y KOB1 simulado.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benchmark es orientativo. Los valores actuales son sintéticos y no constituyen una medición auditada.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2dbd72fa84b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7afee1c6ef43a3" /><Relationship Type="http://schemas.openxmlformats.org/officeDocument/2006/relationships/slideLayout" Target="/ppt/slideLayouts/slideLayout1.xml" Id="R598331c6c2ab49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8331c6c2ab49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5190d5c414f52" /><Relationship Type="http://schemas.openxmlformats.org/officeDocument/2006/relationships/notesSlide" Target="/ppt/notesSlides/notesSlide1.xml" Id="R25c7c28bdb804c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9703ddb464f29" /><Relationship Type="http://schemas.openxmlformats.org/officeDocument/2006/relationships/notesSlide" Target="/ppt/notesSlides/notesSlide2.xml" Id="Rb7d3307c08ae45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50ff4e71f4b1c" /><Relationship Type="http://schemas.openxmlformats.org/officeDocument/2006/relationships/notesSlide" Target="/ppt/notesSlides/notesSlide3.xml" Id="R08372f84630d47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8d86798ef4037" /><Relationship Type="http://schemas.openxmlformats.org/officeDocument/2006/relationships/chart" Target="/ppt/slides/charts/chart1.xml" Id="R314081310fb941f1" /><Relationship Type="http://schemas.openxmlformats.org/officeDocument/2006/relationships/notesSlide" Target="/ppt/notesSlides/notesSlide4.xml" Id="R8618cc8e7aca49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19759c6984eec" /><Relationship Type="http://schemas.openxmlformats.org/officeDocument/2006/relationships/chart" Target="/ppt/slides/charts/chart2.xml" Id="Rf4d748bf29e047f7" /><Relationship Type="http://schemas.openxmlformats.org/officeDocument/2006/relationships/notesSlide" Target="/ppt/notesSlides/notesSlide5.xml" Id="R4fb6e8e1856040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d3023e4d34e4b" /><Relationship Type="http://schemas.openxmlformats.org/officeDocument/2006/relationships/notesSlide" Target="/ppt/notesSlides/notesSlide6.xml" Id="R2f916557c5d54c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efa53f63045dd" /><Relationship Type="http://schemas.openxmlformats.org/officeDocument/2006/relationships/chart" Target="/ppt/slides/charts/chart3.xml" Id="R79e0be10d49c4109" /><Relationship Type="http://schemas.openxmlformats.org/officeDocument/2006/relationships/notesSlide" Target="/ppt/notesSlides/notesSlide7.xml" Id="Rfeb7cacddf694f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4e057dd124f77" /><Relationship Type="http://schemas.openxmlformats.org/officeDocument/2006/relationships/notesSlide" Target="/ppt/notesSlides/notesSlide8.xml" Id="R750a46728fb24cf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Órdenes por mes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ser>
          <c:idx val="0"/>
          <c:order val="0"/>
          <c:tx>
            <c:v>Correctivo</c:v>
          </c:tx>
          <c:spPr>
            <a:ln xmlns:a="http://schemas.openxmlformats.org/drawingml/2006/main" w="28575">
              <a:solidFill>
                <a:srgbClr val="B42318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  <c:pt idx="21">
                  <c:v>Oct 26</c:v>
                </c:pt>
                <c:pt idx="22">
                  <c:v>Nov 26</c:v>
                </c:pt>
                <c:pt idx="23">
                  <c:v>Dic 26</c:v>
                </c:pt>
              </c:strCache>
            </c:strRef>
          </c:cat>
          <c:val>
            <c:numRef>
              <c:f>'Chart Data'!$B$2:$B$25</c:f>
              <c:numCache>
                <c:formatCode>General</c:formatCode>
                <c:ptCount val="24"/>
                <c:pt idx="0">
                  <c:v>56</c:v>
                </c:pt>
                <c:pt idx="1">
                  <c:v>37</c:v>
                </c:pt>
                <c:pt idx="2">
                  <c:v>42</c:v>
                </c:pt>
                <c:pt idx="3">
                  <c:v>33</c:v>
                </c:pt>
                <c:pt idx="4">
                  <c:v>31</c:v>
                </c:pt>
                <c:pt idx="5">
                  <c:v>32</c:v>
                </c:pt>
                <c:pt idx="6">
                  <c:v>42</c:v>
                </c:pt>
                <c:pt idx="7">
                  <c:v>31</c:v>
                </c:pt>
                <c:pt idx="8">
                  <c:v>37</c:v>
                </c:pt>
                <c:pt idx="9">
                  <c:v>33</c:v>
                </c:pt>
                <c:pt idx="10">
                  <c:v>37</c:v>
                </c:pt>
                <c:pt idx="11">
                  <c:v>38</c:v>
                </c:pt>
                <c:pt idx="12">
                  <c:v>41</c:v>
                </c:pt>
                <c:pt idx="13">
                  <c:v>41</c:v>
                </c:pt>
                <c:pt idx="14">
                  <c:v>31</c:v>
                </c:pt>
                <c:pt idx="15">
                  <c:v>24</c:v>
                </c:pt>
                <c:pt idx="16">
                  <c:v>22</c:v>
                </c:pt>
                <c:pt idx="17">
                  <c:v>36</c:v>
                </c:pt>
                <c:pt idx="18">
                  <c:v>28</c:v>
                </c:pt>
                <c:pt idx="19">
                  <c:v>26</c:v>
                </c:pt>
                <c:pt idx="20">
                  <c:v>25</c:v>
                </c:pt>
                <c:pt idx="21">
                  <c:v>28</c:v>
                </c:pt>
                <c:pt idx="22">
                  <c:v>22</c:v>
                </c:pt>
                <c:pt idx="23">
                  <c:v>24</c:v>
                </c:pt>
              </c:numCache>
            </c:numRef>
          </c:val>
        </c:ser>
        <c:ser>
          <c:idx val="1"/>
          <c:order val="1"/>
          <c:tx>
            <c:v>Preventivo</c:v>
          </c:tx>
          <c:spPr>
            <a:ln xmlns:a="http://schemas.openxmlformats.org/drawingml/2006/main" w="28575">
              <a:solidFill>
                <a:srgbClr val="2F6FED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  <c:pt idx="21">
                  <c:v>Oct 26</c:v>
                </c:pt>
                <c:pt idx="22">
                  <c:v>Nov 26</c:v>
                </c:pt>
                <c:pt idx="23">
                  <c:v>Dic 26</c:v>
                </c:pt>
              </c:strCache>
            </c:strRef>
          </c:cat>
          <c:val>
            <c:numRef>
              <c:f>'Chart Data'!$D$2:$D$25</c:f>
              <c:numCache>
                <c:formatCode>General</c:formatCode>
                <c:ptCount val="24"/>
                <c:pt idx="0">
                  <c:v>64</c:v>
                </c:pt>
                <c:pt idx="1">
                  <c:v>78</c:v>
                </c:pt>
                <c:pt idx="2">
                  <c:v>57</c:v>
                </c:pt>
                <c:pt idx="3">
                  <c:v>66</c:v>
                </c:pt>
                <c:pt idx="4">
                  <c:v>65</c:v>
                </c:pt>
                <c:pt idx="5">
                  <c:v>68</c:v>
                </c:pt>
                <c:pt idx="6">
                  <c:v>71</c:v>
                </c:pt>
                <c:pt idx="7">
                  <c:v>74</c:v>
                </c:pt>
                <c:pt idx="8">
                  <c:v>66</c:v>
                </c:pt>
                <c:pt idx="9">
                  <c:v>62</c:v>
                </c:pt>
                <c:pt idx="10">
                  <c:v>74</c:v>
                </c:pt>
                <c:pt idx="11">
                  <c:v>75</c:v>
                </c:pt>
                <c:pt idx="12">
                  <c:v>82</c:v>
                </c:pt>
                <c:pt idx="13">
                  <c:v>80</c:v>
                </c:pt>
                <c:pt idx="14">
                  <c:v>78</c:v>
                </c:pt>
                <c:pt idx="15">
                  <c:v>71</c:v>
                </c:pt>
                <c:pt idx="16">
                  <c:v>88</c:v>
                </c:pt>
                <c:pt idx="17">
                  <c:v>75</c:v>
                </c:pt>
                <c:pt idx="18">
                  <c:v>85</c:v>
                </c:pt>
                <c:pt idx="19">
                  <c:v>86</c:v>
                </c:pt>
                <c:pt idx="20">
                  <c:v>74</c:v>
                </c:pt>
                <c:pt idx="21">
                  <c:v>70</c:v>
                </c:pt>
                <c:pt idx="22">
                  <c:v>93</c:v>
                </c:pt>
                <c:pt idx="23">
                  <c:v>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Avisos acumulados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Avisos</c:v>
          </c:tx>
          <c:spPr>
            <a:solidFill xmlns:a="http://schemas.openxmlformats.org/drawingml/2006/main">
              <a:srgbClr val="D97706"/>
            </a:solidFill>
          </c:spPr>
          <c:cat>
            <c:strRef>
              <c:f>'Chart Data'!$A$2:$A$8</c:f>
              <c:strCache>
                <c:ptCount val="7"/>
                <c:pt idx="0">
                  <c:v>Envasadora L2</c:v>
                </c:pt>
                <c:pt idx="1">
                  <c:v>Etiquetadora L1</c:v>
                </c:pt>
                <c:pt idx="2">
                  <c:v>Compresor 3</c:v>
                </c:pt>
                <c:pt idx="3">
                  <c:v>Reactor P1</c:v>
                </c:pt>
                <c:pt idx="4">
                  <c:v>Envasadora L1</c:v>
                </c:pt>
                <c:pt idx="5">
                  <c:v>Bomba CIP</c:v>
                </c:pt>
                <c:pt idx="6">
                  <c:v>Etiquetadora L2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440</c:v>
                </c:pt>
                <c:pt idx="1">
                  <c:v>227</c:v>
                </c:pt>
                <c:pt idx="2">
                  <c:v>223</c:v>
                </c:pt>
                <c:pt idx="3">
                  <c:v>208</c:v>
                </c:pt>
                <c:pt idx="4">
                  <c:v>195</c:v>
                </c:pt>
                <c:pt idx="5">
                  <c:v>170</c:v>
                </c:pt>
                <c:pt idx="6">
                  <c:v>156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Iniciativas por fase PDCA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A3</c:v>
          </c:tx>
          <c:spPr>
            <a:solidFill xmlns:a="http://schemas.openxmlformats.org/drawingml/2006/main">
              <a:srgbClr val="2F6FED"/>
            </a:solidFill>
          </c:spPr>
          <c:cat>
            <c:strRef>
              <c:f>'Chart Data'!$A$2:$A$5</c:f>
              <c:strCache>
                <c:ptCount val="4"/>
                <c:pt idx="0">
                  <c:v>Plan</c:v>
                </c:pt>
                <c:pt idx="1">
                  <c:v>Do</c:v>
                </c:pt>
                <c:pt idx="2">
                  <c:v>Check</c:v>
                </c:pt>
                <c:pt idx="3">
                  <c:v>Act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8B826-CCBB-4328-944B-D97507ED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Maintenance Performance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48D34-4DC0-4CF2-8035-ED5BE0F4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7E3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7E3F8"/>
                </a:solidFill>
                <a:latin typeface="Arial"/>
                <a:ea typeface="Arial"/>
                <a:cs typeface="Arial"/>
              </a:rPr>
              <a:t>Sistema analítico para mantenimiento industrial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621E3-BDA6-4A05-8438-2C15C61A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6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6EA"/>
                </a:solidFill>
                <a:latin typeface="Arial"/>
                <a:ea typeface="Arial"/>
                <a:cs typeface="Arial"/>
              </a:rPr>
              <a:t>SAP PM MM CO PP  |  Power BI  |  Mejora Enfocada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5BCA8-2210-4633-895A-D63B11DA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AAE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ED0"/>
                </a:solidFill>
                <a:latin typeface="Arial"/>
                <a:ea typeface="Arial"/>
                <a:cs typeface="Arial"/>
              </a:rPr>
              <a:t>Datos sintéticos</a:t>
            </a:r>
          </a:p>
        </p:txBody>
      </p:sp>
    </p:spTree>
    <p:extLst>
      <p:ext uri="{BB962C8B-B14F-4D97-AF65-F5344CB8AC3E}">
        <p14:creationId xmlns:p14="http://schemas.microsoft.com/office/powerpoint/2010/main" val="15992956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216CE-C5B7-49EC-A533-5E051892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DDC19-E55E-4B4C-982E-7669B098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AE933-4CEE-4B79-888B-C4D5DCF3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3.044 órdenes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90200-363A-4CC2-ADB5-491318C1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76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2.623 avisos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B6370-0F69-448D-9052-7A055F71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90.9% disponibilidad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FFA9E-550E-4779-82D2-98BC602B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M$ 2173.1 costo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976FF-41CA-4F9F-B7B1-76A1D087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M$ 31.8 ahorro validado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58928-0D74-4AB7-B07E-B79FED51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 base cubre 24 meses y concentra las fallas en pocos activos.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modelo conecta costo, confiabilidad, backlog y cumplimiento preventivo.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 cartera A3 exige ahorro confirmado y actualización del estándar.</a:t>
            </a:r>
          </a:p>
        </p:txBody>
      </p:sp>
    </p:spTree>
    <p:extLst>
      <p:ext uri="{BB962C8B-B14F-4D97-AF65-F5344CB8AC3E}">
        <p14:creationId xmlns:p14="http://schemas.microsoft.com/office/powerpoint/2010/main" val="885121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AA129-09DF-4601-B709-96E9D472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3CE9B-9FE3-459E-98E8-8AE36CCB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638BC-B949-4100-AF99-61C2E1D3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2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SAP PM MM CO 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A544F-7091-43D6-AEF7-AB92DC39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Power Query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BCABA-CAE2-463B-8E48-9B91DABC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Modelo TMDL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C2241-BD6E-4A2B-9F1E-073B3254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19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98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79 medidas DAX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531E1-5A38-4D20-848F-BD662782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52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12 páginas PBIR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7ABDF-5164-4E83-9DC9-08227935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Cada capa conserva la fuente, el grano y la definición del indicador.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BFE78-88D3-470D-BEA6-C4FFCB5D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15 tablas semánticas con relaciones controladas.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174 visuales con transacción SAP visible.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Build reproducible, pruebas automatizadas y publicación continua.</a:t>
            </a:r>
          </a:p>
        </p:txBody>
      </p:sp>
    </p:spTree>
    <p:extLst>
      <p:ext uri="{BB962C8B-B14F-4D97-AF65-F5344CB8AC3E}">
        <p14:creationId xmlns:p14="http://schemas.microsoft.com/office/powerpoint/2010/main" val="14012358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46933-4FD7-489A-BC3A-755112AB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correctivo disminuye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E36E0-9978-405E-B677-6B6CE1E6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857250" y="1428750"/>
          <a:ext xmlns:a="http://schemas.openxmlformats.org/drawingml/2006/main" cx="1047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4081310fb941f1"/>
          </a:graphicData>
        </a:graphic>
      </p:graphicFrame>
    </p:spTree>
    <p:extLst>
      <p:ext uri="{BB962C8B-B14F-4D97-AF65-F5344CB8AC3E}">
        <p14:creationId xmlns:p14="http://schemas.microsoft.com/office/powerpoint/2010/main" val="6483631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5BFAB-6F6E-445E-8DB9-F2E82009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Concentración de fallas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B3308-7386-48B1-880D-3EB81148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952500" y="1428750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d748bf29e047f7"/>
          </a:graphicData>
        </a:graphic>
      </p:graphicFrame>
    </p:spTree>
    <p:extLst>
      <p:ext uri="{BB962C8B-B14F-4D97-AF65-F5344CB8AC3E}">
        <p14:creationId xmlns:p14="http://schemas.microsoft.com/office/powerpoint/2010/main" val="18032456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C66D5-013D-4A1D-82E8-D77B3257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Costo y capacidad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3652C-75E2-4D37-8D24-E8F8A389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9F32E-BE4C-4884-A286-2BF17A5A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Costo real M$ 2173.1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699EA-3728-46F1-90EB-5D2F2B0B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Plan M$ 2200.0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045F2-EF23-4826-9B3B-D3D34A53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Backlog abierto: 3484 HH pendientes.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8 órdenes esperan repuesto en el período seleccionado.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correctivo muestra mayor dispersión de costo que el preventivo.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99888-B0D6-42A4-B2F6-3F5F34E0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Prioridad: programación semanal por especialidad y protección de repuestos A.</a:t>
            </a:r>
          </a:p>
        </p:txBody>
      </p:sp>
    </p:spTree>
    <p:extLst>
      <p:ext uri="{BB962C8B-B14F-4D97-AF65-F5344CB8AC3E}">
        <p14:creationId xmlns:p14="http://schemas.microsoft.com/office/powerpoint/2010/main" val="1594075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18C23-09F6-4604-9B31-247A560D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Cartera A3 por fase PDCA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93BEA-5D46-4E25-B648-4051B5DF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57250" y="1476375"/>
          <a:ext xmlns:a="http://schemas.openxmlformats.org/drawingml/2006/main" cx="4762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e0be10d49c410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0B798-D65E-4328-AA13-9AB80ABF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M$ 31.8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EC456-BD6F-43D1-8CF4-030B1B77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Ahorro validado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52800-800B-4AEF-B278-BB7DFACA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Las iniciativas se originan en pérdidas cuantificadas.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cierre exige verificación en CO.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Act requiere actualizar el plan preventivo.</a:t>
            </a:r>
          </a:p>
        </p:txBody>
      </p:sp>
    </p:spTree>
    <p:extLst>
      <p:ext uri="{BB962C8B-B14F-4D97-AF65-F5344CB8AC3E}">
        <p14:creationId xmlns:p14="http://schemas.microsoft.com/office/powerpoint/2010/main" val="1421659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025C2-9052-48F8-864F-9832A606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Decisiones para la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22E78-7247-4345-80D6-DBD83DAB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D4B11-F542-4E07-B552-9D618E48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8EA82-674D-4172-BAC3-2ACDCA70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Asignar dueño por KPI y por fuente SAP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42EF5-64AE-4E86-9EC2-EA8DE659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C3BB2-78C5-4F32-BC3F-96055B62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Reconciliar los ocho KPI principales con tolerancia de 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5425A-260E-4ABD-963E-C22B9A35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54AFC-3716-4DB3-9125-2826142D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719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Publicar el piloto y cerrar la primera mejora con ahorro confirmado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3F243-5263-4ED3-A170-773A3575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7D8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7D8F5"/>
                </a:solidFill>
                <a:latin typeface="Arial"/>
                <a:ea typeface="Arial"/>
                <a:cs typeface="Arial"/>
              </a:rPr>
              <a:t>El OEE permanece parcial hasta integrar velocidad y calidad de línea.</a:t>
            </a:r>
          </a:p>
        </p:txBody>
      </p:sp>
    </p:spTree>
    <p:extLst>
      <p:ext uri="{BB962C8B-B14F-4D97-AF65-F5344CB8AC3E}">
        <p14:creationId xmlns:p14="http://schemas.microsoft.com/office/powerpoint/2010/main" val="18018951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2026-09-24T21:54:33.5070000Z</dcterms:created>
  <dcterms:modified xsi:type="dcterms:W3CDTF">2026-09-24T21:54:33.5070000Z</dcterms:modified>
</coreProperties>
</file>