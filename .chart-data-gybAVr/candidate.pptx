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56d4240bbf4d1a" /><Relationship Type="http://schemas.openxmlformats.org/officeDocument/2006/relationships/extended-properties" Target="/docProps/app.xml" Id="Rcff76dc5696d48cb" /><Relationship Type="http://schemas.openxmlformats.org/officeDocument/2006/relationships/officeDocument" Target="/ppt/presentation.xml" Id="R6bab168ee6fe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5fab0ce2f44666"/>
  </p:sldMasterIdLst>
  <p:notesMasterIdLst>
    <p:notesMasterId xmlns:r="http://schemas.openxmlformats.org/officeDocument/2006/relationships" r:id="R9425af9333314448"/>
  </p:notesMasterIdLst>
  <p:sldIdLst>
    <p:sldId xmlns:r="http://schemas.openxmlformats.org/officeDocument/2006/relationships" id="256" r:id="Rbac2cda51ef44abf"/>
    <p:sldId xmlns:r="http://schemas.openxmlformats.org/officeDocument/2006/relationships" id="257" r:id="R46981c6e291b464a"/>
    <p:sldId xmlns:r="http://schemas.openxmlformats.org/officeDocument/2006/relationships" id="258" r:id="R6149e4f057504bee"/>
    <p:sldId xmlns:r="http://schemas.openxmlformats.org/officeDocument/2006/relationships" id="259" r:id="R15d9db34bb40402b"/>
    <p:sldId xmlns:r="http://schemas.openxmlformats.org/officeDocument/2006/relationships" id="260" r:id="Red55ae4f7e98439a"/>
    <p:sldId xmlns:r="http://schemas.openxmlformats.org/officeDocument/2006/relationships" id="261" r:id="R09380b7ede0c41d7"/>
    <p:sldId xmlns:r="http://schemas.openxmlformats.org/officeDocument/2006/relationships" id="262" r:id="Rce5bde00661e4e74"/>
    <p:sldId xmlns:r="http://schemas.openxmlformats.org/officeDocument/2006/relationships" id="263" r:id="R1cb4ca193b064b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84598b4aba4e6b" /><Relationship Type="http://schemas.openxmlformats.org/officeDocument/2006/relationships/slideMaster" Target="/ppt/slideMasters/slideMaster1.xml" Id="R595fab0ce2f44666" /><Relationship Type="http://schemas.openxmlformats.org/officeDocument/2006/relationships/notesMaster" Target="/ppt/notesMasters/notesMaster1.xml" Id="R9425af9333314448" /><Relationship Type="http://schemas.openxmlformats.org/officeDocument/2006/relationships/presProps" Target="/ppt/presProps.xml" Id="R45b3a6ca9ade4070" /><Relationship Type="http://schemas.openxmlformats.org/officeDocument/2006/relationships/tableStyles" Target="/ppt/tableStyles.xml" Id="R9547f79f3fbc45ff" /><Relationship Type="http://schemas.openxmlformats.org/officeDocument/2006/relationships/slide" Target="/ppt/slides/slide1.xml" Id="Rbac2cda51ef44abf" /><Relationship Type="http://schemas.openxmlformats.org/officeDocument/2006/relationships/slide" Target="/ppt/slides/slide2.xml" Id="R46981c6e291b464a" /><Relationship Type="http://schemas.openxmlformats.org/officeDocument/2006/relationships/slide" Target="/ppt/slides/slide3.xml" Id="R6149e4f057504bee" /><Relationship Type="http://schemas.openxmlformats.org/officeDocument/2006/relationships/slide" Target="/ppt/slides/slide4.xml" Id="R15d9db34bb40402b" /><Relationship Type="http://schemas.openxmlformats.org/officeDocument/2006/relationships/slide" Target="/ppt/slides/slide5.xml" Id="Red55ae4f7e98439a" /><Relationship Type="http://schemas.openxmlformats.org/officeDocument/2006/relationships/slide" Target="/ppt/slides/slide6.xml" Id="R09380b7ede0c41d7" /><Relationship Type="http://schemas.openxmlformats.org/officeDocument/2006/relationships/slide" Target="/ppt/slides/slide7.xml" Id="Rce5bde00661e4e74" /><Relationship Type="http://schemas.openxmlformats.org/officeDocument/2006/relationships/slide" Target="/ppt/slides/slide8.xml" Id="R1cb4ca193b064b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336d51506748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21faf1891b42bd" /><Relationship Type="http://schemas.openxmlformats.org/officeDocument/2006/relationships/notesMaster" Target="/ppt/notesMasters/notesMaster1.xml" Id="Rccc87101161749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0aabe0352d449a" /><Relationship Type="http://schemas.openxmlformats.org/officeDocument/2006/relationships/notesMaster" Target="/ppt/notesMasters/notesMaster1.xml" Id="R345e3347ec8b44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5c669474cd48c5" /><Relationship Type="http://schemas.openxmlformats.org/officeDocument/2006/relationships/notesMaster" Target="/ppt/notesMasters/notesMaster1.xml" Id="R02fd53cced6a42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463257e7bc4422" /><Relationship Type="http://schemas.openxmlformats.org/officeDocument/2006/relationships/notesMaster" Target="/ppt/notesMasters/notesMaster1.xml" Id="Rab052f546b284d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14592ca12047b3" /><Relationship Type="http://schemas.openxmlformats.org/officeDocument/2006/relationships/notesMaster" Target="/ppt/notesMasters/notesMaster1.xml" Id="R0088ff07b52a4e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19852ca4f94f99" /><Relationship Type="http://schemas.openxmlformats.org/officeDocument/2006/relationships/notesMaster" Target="/ppt/notesMasters/notesMaster1.xml" Id="R711eda348ab442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6ccfda92fb24b55" /><Relationship Type="http://schemas.openxmlformats.org/officeDocument/2006/relationships/notesMaster" Target="/ppt/notesMasters/notesMaster1.xml" Id="R5f37fbed634948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eed3bb00ac4b6c" /><Relationship Type="http://schemas.openxmlformats.org/officeDocument/2006/relationships/notesMaster" Target="/ppt/notesMasters/notesMaster1.xml" Id="R072612189d1f45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Todos los datos son sintéticos. El producto no representa una operación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dataset sintético generado por data/generate_synthetic.py.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estructura PBIP y PROJECT_SPEC.md del repositorio.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IW39 simulado. Datos sintéticos. El gráfico usa conteos de órdenes por tipo y 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IW29 e IH08 simulados. Datos sintéticos.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 simuladas: IW39, IW47, KOB1, MB51 y CR03.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cartera A3 sintética y KOB1 simulado.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benchmark es orientativo. Los valores actuales son sintéticos y no constituyen una medición auditada.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e00c10ad0148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cda925829e4dd7" /><Relationship Type="http://schemas.openxmlformats.org/officeDocument/2006/relationships/slideLayout" Target="/ppt/slideLayouts/slideLayout1.xml" Id="Re40ac8894a7340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0ac8894a7340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a2db2424b4cbf" /><Relationship Type="http://schemas.openxmlformats.org/officeDocument/2006/relationships/notesSlide" Target="/ppt/notesSlides/notesSlide1.xml" Id="R309e05ecd99c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d484760fd42e1" /><Relationship Type="http://schemas.openxmlformats.org/officeDocument/2006/relationships/notesSlide" Target="/ppt/notesSlides/notesSlide2.xml" Id="R131783ec082c41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3afa8c6744f15" /><Relationship Type="http://schemas.openxmlformats.org/officeDocument/2006/relationships/notesSlide" Target="/ppt/notesSlides/notesSlide3.xml" Id="R60a68a21950240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fb766d124f6e" /><Relationship Type="http://schemas.openxmlformats.org/officeDocument/2006/relationships/chart" Target="/ppt/slides/charts/chart1.xml" Id="Re1918e7047fa4f9e" /><Relationship Type="http://schemas.openxmlformats.org/officeDocument/2006/relationships/notesSlide" Target="/ppt/notesSlides/notesSlide4.xml" Id="R3a8f9a3c717a45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8f4108bc543f4" /><Relationship Type="http://schemas.openxmlformats.org/officeDocument/2006/relationships/chart" Target="/ppt/slides/charts/chart2.xml" Id="Rbe262ccdc019424f" /><Relationship Type="http://schemas.openxmlformats.org/officeDocument/2006/relationships/notesSlide" Target="/ppt/notesSlides/notesSlide5.xml" Id="R48b23c870f8f42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d5c6c09564369" /><Relationship Type="http://schemas.openxmlformats.org/officeDocument/2006/relationships/notesSlide" Target="/ppt/notesSlides/notesSlide6.xml" Id="Rd01465145be448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f5f5513484a7f" /><Relationship Type="http://schemas.openxmlformats.org/officeDocument/2006/relationships/chart" Target="/ppt/slides/charts/chart3.xml" Id="Rb13289c7069e4678" /><Relationship Type="http://schemas.openxmlformats.org/officeDocument/2006/relationships/notesSlide" Target="/ppt/notesSlides/notesSlide7.xml" Id="Redf5aef87a454b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2b3c4fb2a54eef" /><Relationship Type="http://schemas.openxmlformats.org/officeDocument/2006/relationships/notesSlide" Target="/ppt/notesSlides/notesSlide8.xml" Id="R89aa708dabf6463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Órdenes por mes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lineChart>
        <c:grouping val="standard"/>
        <c:ser>
          <c:idx val="0"/>
          <c:order val="0"/>
          <c:tx>
            <c:v>Correctivo</c:v>
          </c:tx>
          <c:spPr>
            <a:ln xmlns:a="http://schemas.openxmlformats.org/drawingml/2006/main" w="28575">
              <a:solidFill>
                <a:srgbClr val="B42318"/>
              </a:solidFill>
            </a:ln>
          </c:spPr>
          <c:marker>
            <c:symbol val="none"/>
          </c:marker>
          <c:cat>
            <c:strRef>
              <c:f>'Chart Data'!$A$2:$A$25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Data'!$B$2:$B$25</c:f>
              <c:numCache>
                <c:formatCode>General</c:formatCode>
                <c:ptCount val="24"/>
                <c:pt idx="0">
                  <c:v>56</c:v>
                </c:pt>
                <c:pt idx="1">
                  <c:v>37</c:v>
                </c:pt>
                <c:pt idx="2">
                  <c:v>42</c:v>
                </c:pt>
                <c:pt idx="3">
                  <c:v>33</c:v>
                </c:pt>
                <c:pt idx="4">
                  <c:v>31</c:v>
                </c:pt>
                <c:pt idx="5">
                  <c:v>32</c:v>
                </c:pt>
                <c:pt idx="6">
                  <c:v>42</c:v>
                </c:pt>
                <c:pt idx="7">
                  <c:v>31</c:v>
                </c:pt>
                <c:pt idx="8">
                  <c:v>37</c:v>
                </c:pt>
                <c:pt idx="9">
                  <c:v>33</c:v>
                </c:pt>
                <c:pt idx="10">
                  <c:v>37</c:v>
                </c:pt>
                <c:pt idx="11">
                  <c:v>38</c:v>
                </c:pt>
                <c:pt idx="12">
                  <c:v>41</c:v>
                </c:pt>
                <c:pt idx="13">
                  <c:v>41</c:v>
                </c:pt>
                <c:pt idx="14">
                  <c:v>31</c:v>
                </c:pt>
                <c:pt idx="15">
                  <c:v>24</c:v>
                </c:pt>
                <c:pt idx="16">
                  <c:v>22</c:v>
                </c:pt>
                <c:pt idx="17">
                  <c:v>36</c:v>
                </c:pt>
                <c:pt idx="18">
                  <c:v>28</c:v>
                </c:pt>
                <c:pt idx="19">
                  <c:v>26</c:v>
                </c:pt>
                <c:pt idx="20">
                  <c:v>25</c:v>
                </c:pt>
                <c:pt idx="21">
                  <c:v>28</c:v>
                </c:pt>
                <c:pt idx="22">
                  <c:v>22</c:v>
                </c:pt>
                <c:pt idx="23">
                  <c:v>24</c:v>
                </c:pt>
              </c:numCache>
            </c:numRef>
          </c:val>
        </c:ser>
        <c:ser>
          <c:idx val="1"/>
          <c:order val="1"/>
          <c:tx>
            <c:v>Preventivo</c:v>
          </c:tx>
          <c:spPr>
            <a:ln xmlns:a="http://schemas.openxmlformats.org/drawingml/2006/main" w="28575">
              <a:solidFill>
                <a:srgbClr val="2F6FED"/>
              </a:solidFill>
            </a:ln>
          </c:spPr>
          <c:marker>
            <c:symbol val="none"/>
          </c:marker>
          <c:cat>
            <c:strRef>
              <c:f>'Chart Data'!$C$2:$C$25</c:f>
              <c:strCache>
                <c:ptCount val="24"/>
                <c:pt idx="0">
                  <c:v>Ene 25</c:v>
                </c:pt>
                <c:pt idx="1">
                  <c:v>Feb 25</c:v>
                </c:pt>
                <c:pt idx="2">
                  <c:v>Mar 25</c:v>
                </c:pt>
                <c:pt idx="3">
                  <c:v>Abr 25</c:v>
                </c:pt>
                <c:pt idx="4">
                  <c:v>May 25</c:v>
                </c:pt>
                <c:pt idx="5">
                  <c:v>Jun 25</c:v>
                </c:pt>
                <c:pt idx="6">
                  <c:v>Jul 25</c:v>
                </c:pt>
                <c:pt idx="7">
                  <c:v>Ago 25</c:v>
                </c:pt>
                <c:pt idx="8">
                  <c:v>Sep 25</c:v>
                </c:pt>
                <c:pt idx="9">
                  <c:v>Oct 25</c:v>
                </c:pt>
                <c:pt idx="10">
                  <c:v>Nov 25</c:v>
                </c:pt>
                <c:pt idx="11">
                  <c:v>Dic 25</c:v>
                </c:pt>
                <c:pt idx="12">
                  <c:v>Ene 26</c:v>
                </c:pt>
                <c:pt idx="13">
                  <c:v>Feb 26</c:v>
                </c:pt>
                <c:pt idx="14">
                  <c:v>Mar 26</c:v>
                </c:pt>
                <c:pt idx="15">
                  <c:v>Abr 26</c:v>
                </c:pt>
                <c:pt idx="16">
                  <c:v>May 26</c:v>
                </c:pt>
                <c:pt idx="17">
                  <c:v>Jun 26</c:v>
                </c:pt>
                <c:pt idx="18">
                  <c:v>Jul 26</c:v>
                </c:pt>
                <c:pt idx="19">
                  <c:v>Ago 26</c:v>
                </c:pt>
                <c:pt idx="20">
                  <c:v>Sep 26</c:v>
                </c:pt>
                <c:pt idx="21">
                  <c:v>Oct 26</c:v>
                </c:pt>
                <c:pt idx="22">
                  <c:v>Nov 26</c:v>
                </c:pt>
                <c:pt idx="23">
                  <c:v>Dic 26</c:v>
                </c:pt>
              </c:strCache>
            </c:strRef>
          </c:cat>
          <c:val>
            <c:numRef>
              <c:f>'Chart Data'!$D$2:$D$25</c:f>
              <c:numCache>
                <c:formatCode>General</c:formatCode>
                <c:ptCount val="24"/>
                <c:pt idx="0">
                  <c:v>64</c:v>
                </c:pt>
                <c:pt idx="1">
                  <c:v>78</c:v>
                </c:pt>
                <c:pt idx="2">
                  <c:v>57</c:v>
                </c:pt>
                <c:pt idx="3">
                  <c:v>66</c:v>
                </c:pt>
                <c:pt idx="4">
                  <c:v>65</c:v>
                </c:pt>
                <c:pt idx="5">
                  <c:v>68</c:v>
                </c:pt>
                <c:pt idx="6">
                  <c:v>71</c:v>
                </c:pt>
                <c:pt idx="7">
                  <c:v>74</c:v>
                </c:pt>
                <c:pt idx="8">
                  <c:v>66</c:v>
                </c:pt>
                <c:pt idx="9">
                  <c:v>62</c:v>
                </c:pt>
                <c:pt idx="10">
                  <c:v>74</c:v>
                </c:pt>
                <c:pt idx="11">
                  <c:v>75</c:v>
                </c:pt>
                <c:pt idx="12">
                  <c:v>82</c:v>
                </c:pt>
                <c:pt idx="13">
                  <c:v>80</c:v>
                </c:pt>
                <c:pt idx="14">
                  <c:v>78</c:v>
                </c:pt>
                <c:pt idx="15">
                  <c:v>71</c:v>
                </c:pt>
                <c:pt idx="16">
                  <c:v>88</c:v>
                </c:pt>
                <c:pt idx="17">
                  <c:v>75</c:v>
                </c:pt>
                <c:pt idx="18">
                  <c:v>85</c:v>
                </c:pt>
                <c:pt idx="19">
                  <c:v>86</c:v>
                </c:pt>
                <c:pt idx="20">
                  <c:v>74</c:v>
                </c:pt>
                <c:pt idx="21">
                  <c:v>70</c:v>
                </c:pt>
                <c:pt idx="22">
                  <c:v>93</c:v>
                </c:pt>
                <c:pt idx="23">
                  <c:v>90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Avisos acumulados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Avisos</c:v>
          </c:tx>
          <c:spPr>
            <a:solidFill xmlns:a="http://schemas.openxmlformats.org/drawingml/2006/main">
              <a:srgbClr val="D97706"/>
            </a:solidFill>
          </c:spPr>
          <c:cat>
            <c:strRef>
              <c:f>'Chart Data'!$A$2:$A$8</c:f>
              <c:strCache>
                <c:ptCount val="7"/>
                <c:pt idx="0">
                  <c:v>Envasadora L2</c:v>
                </c:pt>
                <c:pt idx="1">
                  <c:v>Etiquetadora L1</c:v>
                </c:pt>
                <c:pt idx="2">
                  <c:v>Compresor 3</c:v>
                </c:pt>
                <c:pt idx="3">
                  <c:v>Reactor P1</c:v>
                </c:pt>
                <c:pt idx="4">
                  <c:v>Envasadora L1</c:v>
                </c:pt>
                <c:pt idx="5">
                  <c:v>Bomba CIP</c:v>
                </c:pt>
                <c:pt idx="6">
                  <c:v>Etiquetadora L2</c:v>
                </c:pt>
              </c:strCache>
            </c:str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440</c:v>
                </c:pt>
                <c:pt idx="1">
                  <c:v>227</c:v>
                </c:pt>
                <c:pt idx="2">
                  <c:v>223</c:v>
                </c:pt>
                <c:pt idx="3">
                  <c:v>208</c:v>
                </c:pt>
                <c:pt idx="4">
                  <c:v>195</c:v>
                </c:pt>
                <c:pt idx="5">
                  <c:v>170</c:v>
                </c:pt>
                <c:pt idx="6">
                  <c:v>156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Arial"/>
                <a:ea typeface="Arial"/>
                <a:cs typeface="Arial"/>
              </a:rPr>
              <a:t>Iniciativas por fase PDCA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A3</c:v>
          </c:tx>
          <c:spPr>
            <a:solidFill xmlns:a="http://schemas.openxmlformats.org/drawingml/2006/main">
              <a:srgbClr val="2F6FED"/>
            </a:solidFill>
          </c:spPr>
          <c:cat>
            <c:strRef>
              <c:f>'Chart Data'!$A$2:$A$5</c:f>
              <c:strCache>
                <c:ptCount val="4"/>
                <c:pt idx="0">
                  <c:v>Act</c:v>
                </c:pt>
                <c:pt idx="1">
                  <c:v>Check</c:v>
                </c:pt>
                <c:pt idx="2">
                  <c:v>Do</c:v>
                </c:pt>
                <c:pt idx="3">
                  <c:v>Plan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0177B-7585-43B4-A01C-36CDC7FA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Maintenance Performance Suite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EFD28-0217-40CD-A2AB-DB90972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7E3F8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7E3F8"/>
                </a:solidFill>
                <a:latin typeface="Arial"/>
                <a:ea typeface="Arial"/>
                <a:cs typeface="Arial"/>
              </a:rPr>
              <a:t>Sistema analítico para mantenimiento industrial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FD9F3-680C-4A28-8E9C-21EF4B2F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FC6E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FC6EA"/>
                </a:solidFill>
                <a:latin typeface="Arial"/>
                <a:ea typeface="Arial"/>
                <a:cs typeface="Arial"/>
              </a:rPr>
              <a:t>SAP PM MM CO PP  |  Power BI  |  Mejora Enfocada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9EEE2-1CA0-4B4D-B7A9-9917B9A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AAED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AAED0"/>
                </a:solidFill>
                <a:latin typeface="Arial"/>
                <a:ea typeface="Arial"/>
                <a:cs typeface="Arial"/>
              </a:rPr>
              <a:t>Datos sintéticos</a:t>
            </a:r>
          </a:p>
        </p:txBody>
      </p:sp>
    </p:spTree>
    <p:extLst>
      <p:ext uri="{BB962C8B-B14F-4D97-AF65-F5344CB8AC3E}">
        <p14:creationId xmlns:p14="http://schemas.microsoft.com/office/powerpoint/2010/main" val="950768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FAA15E-C0F8-466A-B242-BD56184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Resumen ejecutivo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8EA08-E44C-4E89-9852-6BBB78DAF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233357-8810-4359-9567-EB39C8EE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3.044 órdenes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723DC-EFC2-446A-B07D-81F689F5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D9770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D97706"/>
                </a:solidFill>
                <a:latin typeface="Arial"/>
                <a:ea typeface="Arial"/>
                <a:cs typeface="Arial"/>
              </a:rPr>
              <a:t>2.623 avisos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A2E14-88AC-4362-BE9D-D0F63B2E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7637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90.9% disponibilidad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D4AB6F-9834-4A74-AA4D-7E2A600A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M$ 2173.1 costo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031BF3-55AF-41D2-A7E1-33C7FB9B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241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M$ 31.8 ahorro validado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17B47-5CEE-4133-9A0D-631F4BE6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base cubre 24 meses y concentra las fallas en pocos activos.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modelo conecta costo, confiabilidad, backlog y cumplimiento preventivo.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00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 cartera A3 exige ahorro confirmado y actualización del estándar.</a:t>
            </a:r>
          </a:p>
        </p:txBody>
      </p:sp>
    </p:spTree>
    <p:extLst>
      <p:ext uri="{BB962C8B-B14F-4D97-AF65-F5344CB8AC3E}">
        <p14:creationId xmlns:p14="http://schemas.microsoft.com/office/powerpoint/2010/main" val="21194895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63065F-4437-4E2B-8F86-45192BB9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Arquitectura del producto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BB6440-24E9-4945-9415-971EEB6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4D40B-16C5-4E1D-A8FC-14F9173C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0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22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SAP PM MM CO 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0D0BB6-981E-47AA-AE05-1DA20C46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Power Query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8187B-1703-4C1C-83FD-B640E423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Modelo TMDL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70680-3E08-4189-8A67-050B4AE9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6192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498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79 medidas DAX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AE946-1DD8-4D22-A35D-0E50D36B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619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852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12 páginas PBIR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94B583-68BE-415F-BA30-86746963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Cada capa conserva la fuente, el grano y la definición del indicador.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5EBBE-2009-4668-B3AF-ED0BD65B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57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15 tablas semánticas con relaciones controladas.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174 visuales con transacción SAP visible.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87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Build reproducible, pruebas automatizadas y publicación continua.</a:t>
            </a:r>
          </a:p>
        </p:txBody>
      </p:sp>
    </p:spTree>
    <p:extLst>
      <p:ext uri="{BB962C8B-B14F-4D97-AF65-F5344CB8AC3E}">
        <p14:creationId xmlns:p14="http://schemas.microsoft.com/office/powerpoint/2010/main" val="237462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29F1E-64B5-4F15-8E19-E85CFD21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El mix correctivo disminuye durante el período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934A5-2AAC-40A1-9927-F9D2AFD3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10477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918e7047fa4f9e"/>
          </a:graphicData>
        </a:graphic>
      </p:graphicFrame>
    </p:spTree>
    <p:extLst>
      <p:ext uri="{BB962C8B-B14F-4D97-AF65-F5344CB8AC3E}">
        <p14:creationId xmlns:p14="http://schemas.microsoft.com/office/powerpoint/2010/main" val="7658241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FAD9A-C386-496B-8585-D51C55EA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Activos que concentran las fallas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77FD65-EE40-4109-A145-68B806C3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52500" y="1428750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262ccdc019424f"/>
          </a:graphicData>
        </a:graphic>
      </p:graphicFrame>
    </p:spTree>
    <p:extLst>
      <p:ext uri="{BB962C8B-B14F-4D97-AF65-F5344CB8AC3E}">
        <p14:creationId xmlns:p14="http://schemas.microsoft.com/office/powerpoint/2010/main" val="19154095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CEED7-0B72-4296-8AA6-1DB35AF5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y capacidad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71FFA-77D3-4E55-858E-34E311E6A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E87C6-2967-4766-8103-88F0E4BA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Costo real M$ 2173.1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FFC8D9-AFD1-4FC7-871C-9671CF12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F6FE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6FED"/>
                </a:solidFill>
                <a:latin typeface="Arial"/>
                <a:ea typeface="Arial"/>
                <a:cs typeface="Arial"/>
              </a:rPr>
              <a:t>Plan M$ 2200.0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AC638-001D-4722-8EFF-CC8B5C14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9715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Backlog abierto: 3484 HH pendientes.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8 órdenes esperan repuesto en el período seleccionado.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20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correctivo muestra mayor dispersión de costo que el preventivo.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F68CD0-C86F-47E3-8F2A-910F2908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423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2318"/>
                </a:solidFill>
                <a:latin typeface="Arial"/>
                <a:ea typeface="Arial"/>
                <a:cs typeface="Arial"/>
              </a:rPr>
              <a:t>Prioridad: programación semanal por especialidad y protección de repuestos A.</a:t>
            </a:r>
          </a:p>
        </p:txBody>
      </p:sp>
    </p:spTree>
    <p:extLst>
      <p:ext uri="{BB962C8B-B14F-4D97-AF65-F5344CB8AC3E}">
        <p14:creationId xmlns:p14="http://schemas.microsoft.com/office/powerpoint/2010/main" val="8020441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04F38-15A6-4C31-8E26-AD2BF419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Cartera de mejora enfocada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7829C-2908-4523-B7B0-F9030E51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476250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3289c7069e467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8EE77-4756-47A7-BBE8-049A7F9F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8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805C"/>
                </a:solidFill>
                <a:latin typeface="Arial"/>
                <a:ea typeface="Arial"/>
                <a:cs typeface="Arial"/>
              </a:rPr>
              <a:t>M$ 31.8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D0F5C-1A41-4DA8-A095-2E10CB4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Ahorro validado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F7CDC-1D5F-4A98-9FDF-1F992900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Las iniciativas se originan en pérdidas cuantificadas.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El cierre exige verificación en CO.</a:t>
            </a:r>
          </a:p>
          <a:p xmlns:a="http://schemas.openxmlformats.org/drawingml/2006/main">
            <a:pPr marL="228600" indent="-114300">
              <a:spcAft>
                <a:spcPts val="900"/>
              </a:spcAft>
              <a:buChar char="•"/>
              <a:defRPr sz="1725" b="0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E1C33"/>
                </a:solidFill>
                <a:latin typeface="Arial"/>
                <a:ea typeface="Arial"/>
                <a:cs typeface="Arial"/>
              </a:rPr>
              <a:t>Act requiere actualizar el plan preventivo.</a:t>
            </a:r>
          </a:p>
        </p:txBody>
      </p:sp>
    </p:spTree>
    <p:extLst>
      <p:ext uri="{BB962C8B-B14F-4D97-AF65-F5344CB8AC3E}">
        <p14:creationId xmlns:p14="http://schemas.microsoft.com/office/powerpoint/2010/main" val="19926326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E1C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DAB2F-F058-4BA4-A38E-903CC680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E1C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E1C33"/>
                </a:solidFill>
                <a:latin typeface="Arial"/>
                <a:ea typeface="Arial"/>
                <a:cs typeface="Arial"/>
              </a:rPr>
              <a:t>Decisiones para la 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BE331-BCE2-4D6E-B975-4B66914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530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188A50-1460-47AE-9F73-521848DE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F083A-B080-4153-A5C7-A633FC79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81150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Asignar dueño por KPI y por fuente SAP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07381F-853E-4BC4-9D23-4574FEFD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714625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3C24F7-97BC-4446-B41E-D0FBA7D7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76525"/>
            <a:ext cx="904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Reconciliar los ocho KPI principales con tolerancia de 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A993F-98A0-43B3-B51C-6B290EA1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7FB0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7FB0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373BF4-66B8-41CC-B2BB-658CAFA5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719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Publicar el piloto y cerrar la primera mejora con ahorro confirmado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2FFB4D-D8F9-4B10-B5C1-861E15D6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38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7D8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7D8F5"/>
                </a:solidFill>
                <a:latin typeface="Arial"/>
                <a:ea typeface="Arial"/>
                <a:cs typeface="Arial"/>
              </a:rPr>
              <a:t>El OEE permanece parcial hasta integrar velocidad y calidad de línea.</a:t>
            </a:r>
          </a:p>
        </p:txBody>
      </p:sp>
    </p:spTree>
    <p:extLst>
      <p:ext uri="{BB962C8B-B14F-4D97-AF65-F5344CB8AC3E}">
        <p14:creationId xmlns:p14="http://schemas.microsoft.com/office/powerpoint/2010/main" val="16345311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2026-09-24T21:50:19.7820000Z</dcterms:created>
  <dcterms:modified xsi:type="dcterms:W3CDTF">2026-09-24T21:50:19.7820000Z</dcterms:modified>
</coreProperties>
</file>