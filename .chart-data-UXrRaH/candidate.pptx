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228c4e2c9242a1" /><Relationship Type="http://schemas.openxmlformats.org/officeDocument/2006/relationships/extended-properties" Target="/docProps/app.xml" Id="R8a1af6b2480f49b6" /><Relationship Type="http://schemas.openxmlformats.org/officeDocument/2006/relationships/officeDocument" Target="/ppt/presentation.xml" Id="Rfe4b7c23257445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78e59fb8ed4c2a"/>
  </p:sldMasterIdLst>
  <p:notesMasterIdLst>
    <p:notesMasterId xmlns:r="http://schemas.openxmlformats.org/officeDocument/2006/relationships" r:id="R5305a3b767614c08"/>
  </p:notesMasterIdLst>
  <p:sldIdLst>
    <p:sldId xmlns:r="http://schemas.openxmlformats.org/officeDocument/2006/relationships" id="256" r:id="R6d6e6671c52f4dab"/>
    <p:sldId xmlns:r="http://schemas.openxmlformats.org/officeDocument/2006/relationships" id="257" r:id="Rb23ad1dd8ca34b2b"/>
    <p:sldId xmlns:r="http://schemas.openxmlformats.org/officeDocument/2006/relationships" id="258" r:id="Ra672522c4e024522"/>
    <p:sldId xmlns:r="http://schemas.openxmlformats.org/officeDocument/2006/relationships" id="259" r:id="R2194a67cc87c42dd"/>
    <p:sldId xmlns:r="http://schemas.openxmlformats.org/officeDocument/2006/relationships" id="260" r:id="Rd33f7b672f7a4958"/>
    <p:sldId xmlns:r="http://schemas.openxmlformats.org/officeDocument/2006/relationships" id="261" r:id="R1468df17cf044c83"/>
    <p:sldId xmlns:r="http://schemas.openxmlformats.org/officeDocument/2006/relationships" id="262" r:id="R062b0e29d5e2473d"/>
    <p:sldId xmlns:r="http://schemas.openxmlformats.org/officeDocument/2006/relationships" id="263" r:id="Rf37bb01066f242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48b88f2c034f65" /><Relationship Type="http://schemas.openxmlformats.org/officeDocument/2006/relationships/slideMaster" Target="/ppt/slideMasters/slideMaster1.xml" Id="R9278e59fb8ed4c2a" /><Relationship Type="http://schemas.openxmlformats.org/officeDocument/2006/relationships/notesMaster" Target="/ppt/notesMasters/notesMaster1.xml" Id="R5305a3b767614c08" /><Relationship Type="http://schemas.openxmlformats.org/officeDocument/2006/relationships/presProps" Target="/ppt/presProps.xml" Id="Rf3cf123888d04cc6" /><Relationship Type="http://schemas.openxmlformats.org/officeDocument/2006/relationships/tableStyles" Target="/ppt/tableStyles.xml" Id="R4eaa91f76d5945d7" /><Relationship Type="http://schemas.openxmlformats.org/officeDocument/2006/relationships/slide" Target="/ppt/slides/slide1.xml" Id="R6d6e6671c52f4dab" /><Relationship Type="http://schemas.openxmlformats.org/officeDocument/2006/relationships/slide" Target="/ppt/slides/slide2.xml" Id="Rb23ad1dd8ca34b2b" /><Relationship Type="http://schemas.openxmlformats.org/officeDocument/2006/relationships/slide" Target="/ppt/slides/slide3.xml" Id="Ra672522c4e024522" /><Relationship Type="http://schemas.openxmlformats.org/officeDocument/2006/relationships/slide" Target="/ppt/slides/slide4.xml" Id="R2194a67cc87c42dd" /><Relationship Type="http://schemas.openxmlformats.org/officeDocument/2006/relationships/slide" Target="/ppt/slides/slide5.xml" Id="Rd33f7b672f7a4958" /><Relationship Type="http://schemas.openxmlformats.org/officeDocument/2006/relationships/slide" Target="/ppt/slides/slide6.xml" Id="R1468df17cf044c83" /><Relationship Type="http://schemas.openxmlformats.org/officeDocument/2006/relationships/slide" Target="/ppt/slides/slide7.xml" Id="R062b0e29d5e2473d" /><Relationship Type="http://schemas.openxmlformats.org/officeDocument/2006/relationships/slide" Target="/ppt/slides/slide8.xml" Id="Rf37bb01066f242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b444351d0544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75d46051fd4ccf" /><Relationship Type="http://schemas.openxmlformats.org/officeDocument/2006/relationships/notesMaster" Target="/ppt/notesMasters/notesMaster1.xml" Id="R3c84c1233cb54c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065aac5c43494f" /><Relationship Type="http://schemas.openxmlformats.org/officeDocument/2006/relationships/notesMaster" Target="/ppt/notesMasters/notesMaster1.xml" Id="R77b862f29d1043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0854d54f3d4f57" /><Relationship Type="http://schemas.openxmlformats.org/officeDocument/2006/relationships/notesMaster" Target="/ppt/notesMasters/notesMaster1.xml" Id="R0c4383d948a148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4cb6711ae645d6" /><Relationship Type="http://schemas.openxmlformats.org/officeDocument/2006/relationships/notesMaster" Target="/ppt/notesMasters/notesMaster1.xml" Id="Rd15b7df562a345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e787f626fb43e7" /><Relationship Type="http://schemas.openxmlformats.org/officeDocument/2006/relationships/notesMaster" Target="/ppt/notesMasters/notesMaster1.xml" Id="R9d7f664d7d1f4f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95ca5ca71a4e05" /><Relationship Type="http://schemas.openxmlformats.org/officeDocument/2006/relationships/notesMaster" Target="/ppt/notesMasters/notesMaster1.xml" Id="R7e718c1ada3a49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1597cd1ae94080" /><Relationship Type="http://schemas.openxmlformats.org/officeDocument/2006/relationships/notesMaster" Target="/ppt/notesMasters/notesMaster1.xml" Id="R3521466fd6264b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a58549f03041d4" /><Relationship Type="http://schemas.openxmlformats.org/officeDocument/2006/relationships/notesMaster" Target="/ppt/notesMasters/notesMaster1.xml" Id="Re564dad6ca874f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Todos los datos son sintéticos. El producto no representa una operación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dataset sintético generado por data/generate_synthetic.py.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estructura PBIP y PROJECT_SPEC.md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IW39 simulado. Datos sintéticos. El gráfico usa conteos de órdenes por tipo y 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IW29 e IH08 simulados. Datos sintéticos.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simuladas: IW39, IW47, KOB1, MB51 y CR03.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cartera A3 sintética y KOB1 simulado.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benchmark es orientativo. Los valores actuales son sintéticos y no constituyen una medición auditada.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641f31cc254b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dd3c99b6af4e32" /><Relationship Type="http://schemas.openxmlformats.org/officeDocument/2006/relationships/slideLayout" Target="/ppt/slideLayouts/slideLayout1.xml" Id="Rd2e25d892a0448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e25d892a0448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f6f02602f49ba" /><Relationship Type="http://schemas.openxmlformats.org/officeDocument/2006/relationships/notesSlide" Target="/ppt/notesSlides/notesSlide1.xml" Id="R8edc8149c1524c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d6befbbad4ee1" /><Relationship Type="http://schemas.openxmlformats.org/officeDocument/2006/relationships/notesSlide" Target="/ppt/notesSlides/notesSlide2.xml" Id="R376193eb9ff745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1d72a99494d62" /><Relationship Type="http://schemas.openxmlformats.org/officeDocument/2006/relationships/notesSlide" Target="/ppt/notesSlides/notesSlide3.xml" Id="R58f0b98678e243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e69648cd74966" /><Relationship Type="http://schemas.openxmlformats.org/officeDocument/2006/relationships/chart" Target="/ppt/slides/charts/chart1.xml" Id="R36a1ce8e478f401c" /><Relationship Type="http://schemas.openxmlformats.org/officeDocument/2006/relationships/notesSlide" Target="/ppt/notesSlides/notesSlide4.xml" Id="Rd0b7c09f2fea4e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247fa946d42a8" /><Relationship Type="http://schemas.openxmlformats.org/officeDocument/2006/relationships/chart" Target="/ppt/slides/charts/chart2.xml" Id="Recbb57728dad4bf5" /><Relationship Type="http://schemas.openxmlformats.org/officeDocument/2006/relationships/notesSlide" Target="/ppt/notesSlides/notesSlide5.xml" Id="R8a1bbab1592745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8ebc935b140c3" /><Relationship Type="http://schemas.openxmlformats.org/officeDocument/2006/relationships/notesSlide" Target="/ppt/notesSlides/notesSlide6.xml" Id="R5b5a2c82a15e46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b6359c8e74087" /><Relationship Type="http://schemas.openxmlformats.org/officeDocument/2006/relationships/chart" Target="/ppt/slides/charts/chart3.xml" Id="Rac4cd3f693b8419e" /><Relationship Type="http://schemas.openxmlformats.org/officeDocument/2006/relationships/notesSlide" Target="/ppt/notesSlides/notesSlide7.xml" Id="Rc7533f722e224e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5037d7a124aef" /><Relationship Type="http://schemas.openxmlformats.org/officeDocument/2006/relationships/notesSlide" Target="/ppt/notesSlides/notesSlide8.xml" Id="R600ae7dcb67241d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Órdenes por mes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ser>
          <c:idx val="0"/>
          <c:order val="0"/>
          <c:tx>
            <c:v>Correctivo</c:v>
          </c:tx>
          <c:spPr>
            <a:ln xmlns:a="http://schemas.openxmlformats.org/drawingml/2006/main" w="28575">
              <a:solidFill>
                <a:srgbClr val="B42318"/>
              </a:solidFill>
            </a:ln>
          </c:spPr>
          <c:marker>
            <c:symbol val="none"/>
          </c:marker>
          <c:cat>
            <c:strRef>
              <c:f>'Chart Data'!$A$2:$A$25</c:f>
              <c:strCache>
                <c:ptCount val="24"/>
                <c:pt idx="0">
                  <c:v>Ene 25</c:v>
                </c:pt>
                <c:pt idx="1">
                  <c:v>Feb 25</c:v>
                </c:pt>
                <c:pt idx="2">
                  <c:v>Mar 25</c:v>
                </c:pt>
                <c:pt idx="3">
                  <c:v>Abr 25</c:v>
                </c:pt>
                <c:pt idx="4">
                  <c:v>May 25</c:v>
                </c:pt>
                <c:pt idx="5">
                  <c:v>Jun 25</c:v>
                </c:pt>
                <c:pt idx="6">
                  <c:v>Jul 25</c:v>
                </c:pt>
                <c:pt idx="7">
                  <c:v>Ago 25</c:v>
                </c:pt>
                <c:pt idx="8">
                  <c:v>Sep 25</c:v>
                </c:pt>
                <c:pt idx="9">
                  <c:v>Oct 25</c:v>
                </c:pt>
                <c:pt idx="10">
                  <c:v>Nov 25</c:v>
                </c:pt>
                <c:pt idx="11">
                  <c:v>Dic 25</c:v>
                </c:pt>
                <c:pt idx="12">
                  <c:v>Ene 26</c:v>
                </c:pt>
                <c:pt idx="13">
                  <c:v>Feb 26</c:v>
                </c:pt>
                <c:pt idx="14">
                  <c:v>Mar 26</c:v>
                </c:pt>
                <c:pt idx="15">
                  <c:v>Abr 26</c:v>
                </c:pt>
                <c:pt idx="16">
                  <c:v>May 26</c:v>
                </c:pt>
                <c:pt idx="17">
                  <c:v>Jun 26</c:v>
                </c:pt>
                <c:pt idx="18">
                  <c:v>Jul 26</c:v>
                </c:pt>
                <c:pt idx="19">
                  <c:v>Ago 26</c:v>
                </c:pt>
                <c:pt idx="20">
                  <c:v>Sep 26</c:v>
                </c:pt>
                <c:pt idx="21">
                  <c:v>Oct 26</c:v>
                </c:pt>
                <c:pt idx="22">
                  <c:v>Nov 26</c:v>
                </c:pt>
                <c:pt idx="23">
                  <c:v>Dic 26</c:v>
                </c:pt>
              </c:strCache>
            </c:strRef>
          </c:cat>
          <c:val>
            <c:numRef>
              <c:f>'Chart Data'!$B$2:$B$25</c:f>
              <c:numCache>
                <c:formatCode>General</c:formatCode>
                <c:ptCount val="24"/>
                <c:pt idx="0">
                  <c:v>56</c:v>
                </c:pt>
                <c:pt idx="1">
                  <c:v>37</c:v>
                </c:pt>
                <c:pt idx="2">
                  <c:v>42</c:v>
                </c:pt>
                <c:pt idx="3">
                  <c:v>33</c:v>
                </c:pt>
                <c:pt idx="4">
                  <c:v>31</c:v>
                </c:pt>
                <c:pt idx="5">
                  <c:v>32</c:v>
                </c:pt>
                <c:pt idx="6">
                  <c:v>42</c:v>
                </c:pt>
                <c:pt idx="7">
                  <c:v>31</c:v>
                </c:pt>
                <c:pt idx="8">
                  <c:v>37</c:v>
                </c:pt>
                <c:pt idx="9">
                  <c:v>33</c:v>
                </c:pt>
                <c:pt idx="10">
                  <c:v>37</c:v>
                </c:pt>
                <c:pt idx="11">
                  <c:v>38</c:v>
                </c:pt>
                <c:pt idx="12">
                  <c:v>41</c:v>
                </c:pt>
                <c:pt idx="13">
                  <c:v>41</c:v>
                </c:pt>
                <c:pt idx="14">
                  <c:v>31</c:v>
                </c:pt>
                <c:pt idx="15">
                  <c:v>24</c:v>
                </c:pt>
                <c:pt idx="16">
                  <c:v>22</c:v>
                </c:pt>
                <c:pt idx="17">
                  <c:v>36</c:v>
                </c:pt>
                <c:pt idx="18">
                  <c:v>28</c:v>
                </c:pt>
                <c:pt idx="19">
                  <c:v>26</c:v>
                </c:pt>
                <c:pt idx="20">
                  <c:v>25</c:v>
                </c:pt>
                <c:pt idx="21">
                  <c:v>28</c:v>
                </c:pt>
                <c:pt idx="22">
                  <c:v>22</c:v>
                </c:pt>
                <c:pt idx="23">
                  <c:v>24</c:v>
                </c:pt>
              </c:numCache>
            </c:numRef>
          </c:val>
        </c:ser>
        <c:ser>
          <c:idx val="1"/>
          <c:order val="1"/>
          <c:tx>
            <c:v>Preventivo</c:v>
          </c:tx>
          <c:spPr>
            <a:ln xmlns:a="http://schemas.openxmlformats.org/drawingml/2006/main" w="28575">
              <a:solidFill>
                <a:srgbClr val="2F6FED"/>
              </a:solidFill>
            </a:ln>
          </c:spPr>
          <c:marker>
            <c:symbol val="none"/>
          </c:marker>
          <c:cat>
            <c:strRef>
              <c:f>'Chart Data'!$C$2:$C$25</c:f>
              <c:strCache>
                <c:ptCount val="24"/>
                <c:pt idx="0">
                  <c:v>Ene 25</c:v>
                </c:pt>
                <c:pt idx="1">
                  <c:v>Feb 25</c:v>
                </c:pt>
                <c:pt idx="2">
                  <c:v>Mar 25</c:v>
                </c:pt>
                <c:pt idx="3">
                  <c:v>Abr 25</c:v>
                </c:pt>
                <c:pt idx="4">
                  <c:v>May 25</c:v>
                </c:pt>
                <c:pt idx="5">
                  <c:v>Jun 25</c:v>
                </c:pt>
                <c:pt idx="6">
                  <c:v>Jul 25</c:v>
                </c:pt>
                <c:pt idx="7">
                  <c:v>Ago 25</c:v>
                </c:pt>
                <c:pt idx="8">
                  <c:v>Sep 25</c:v>
                </c:pt>
                <c:pt idx="9">
                  <c:v>Oct 25</c:v>
                </c:pt>
                <c:pt idx="10">
                  <c:v>Nov 25</c:v>
                </c:pt>
                <c:pt idx="11">
                  <c:v>Dic 25</c:v>
                </c:pt>
                <c:pt idx="12">
                  <c:v>Ene 26</c:v>
                </c:pt>
                <c:pt idx="13">
                  <c:v>Feb 26</c:v>
                </c:pt>
                <c:pt idx="14">
                  <c:v>Mar 26</c:v>
                </c:pt>
                <c:pt idx="15">
                  <c:v>Abr 26</c:v>
                </c:pt>
                <c:pt idx="16">
                  <c:v>May 26</c:v>
                </c:pt>
                <c:pt idx="17">
                  <c:v>Jun 26</c:v>
                </c:pt>
                <c:pt idx="18">
                  <c:v>Jul 26</c:v>
                </c:pt>
                <c:pt idx="19">
                  <c:v>Ago 26</c:v>
                </c:pt>
                <c:pt idx="20">
                  <c:v>Sep 26</c:v>
                </c:pt>
                <c:pt idx="21">
                  <c:v>Oct 26</c:v>
                </c:pt>
                <c:pt idx="22">
                  <c:v>Nov 26</c:v>
                </c:pt>
                <c:pt idx="23">
                  <c:v>Dic 26</c:v>
                </c:pt>
              </c:strCache>
            </c:strRef>
          </c:cat>
          <c:val>
            <c:numRef>
              <c:f>'Chart Data'!$D$2:$D$25</c:f>
              <c:numCache>
                <c:formatCode>General</c:formatCode>
                <c:ptCount val="24"/>
                <c:pt idx="0">
                  <c:v>64</c:v>
                </c:pt>
                <c:pt idx="1">
                  <c:v>78</c:v>
                </c:pt>
                <c:pt idx="2">
                  <c:v>57</c:v>
                </c:pt>
                <c:pt idx="3">
                  <c:v>66</c:v>
                </c:pt>
                <c:pt idx="4">
                  <c:v>65</c:v>
                </c:pt>
                <c:pt idx="5">
                  <c:v>68</c:v>
                </c:pt>
                <c:pt idx="6">
                  <c:v>71</c:v>
                </c:pt>
                <c:pt idx="7">
                  <c:v>74</c:v>
                </c:pt>
                <c:pt idx="8">
                  <c:v>66</c:v>
                </c:pt>
                <c:pt idx="9">
                  <c:v>62</c:v>
                </c:pt>
                <c:pt idx="10">
                  <c:v>74</c:v>
                </c:pt>
                <c:pt idx="11">
                  <c:v>75</c:v>
                </c:pt>
                <c:pt idx="12">
                  <c:v>82</c:v>
                </c:pt>
                <c:pt idx="13">
                  <c:v>80</c:v>
                </c:pt>
                <c:pt idx="14">
                  <c:v>78</c:v>
                </c:pt>
                <c:pt idx="15">
                  <c:v>71</c:v>
                </c:pt>
                <c:pt idx="16">
                  <c:v>88</c:v>
                </c:pt>
                <c:pt idx="17">
                  <c:v>75</c:v>
                </c:pt>
                <c:pt idx="18">
                  <c:v>85</c:v>
                </c:pt>
                <c:pt idx="19">
                  <c:v>86</c:v>
                </c:pt>
                <c:pt idx="20">
                  <c:v>74</c:v>
                </c:pt>
                <c:pt idx="21">
                  <c:v>70</c:v>
                </c:pt>
                <c:pt idx="22">
                  <c:v>93</c:v>
                </c:pt>
                <c:pt idx="23">
                  <c:v>90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Avisos acumulados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Avisos</c:v>
          </c:tx>
          <c:spPr>
            <a:solidFill xmlns:a="http://schemas.openxmlformats.org/drawingml/2006/main">
              <a:srgbClr val="D97706"/>
            </a:solidFill>
          </c:spPr>
          <c:cat>
            <c:strRef>
              <c:f>'Chart Data'!$A$2:$A$8</c:f>
              <c:strCache>
                <c:ptCount val="7"/>
                <c:pt idx="0">
                  <c:v>Envasadora L2</c:v>
                </c:pt>
                <c:pt idx="1">
                  <c:v>Etiquetadora L1</c:v>
                </c:pt>
                <c:pt idx="2">
                  <c:v>Compresor 3</c:v>
                </c:pt>
                <c:pt idx="3">
                  <c:v>Reactor P1</c:v>
                </c:pt>
                <c:pt idx="4">
                  <c:v>Envasadora L1</c:v>
                </c:pt>
                <c:pt idx="5">
                  <c:v>Bomba CIP</c:v>
                </c:pt>
                <c:pt idx="6">
                  <c:v>Etiquetadora L2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440</c:v>
                </c:pt>
                <c:pt idx="1">
                  <c:v>227</c:v>
                </c:pt>
                <c:pt idx="2">
                  <c:v>223</c:v>
                </c:pt>
                <c:pt idx="3">
                  <c:v>208</c:v>
                </c:pt>
                <c:pt idx="4">
                  <c:v>195</c:v>
                </c:pt>
                <c:pt idx="5">
                  <c:v>170</c:v>
                </c:pt>
                <c:pt idx="6">
                  <c:v>156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Iniciativas por fase PDCA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A3</c:v>
          </c:tx>
          <c:spPr>
            <a:solidFill xmlns:a="http://schemas.openxmlformats.org/drawingml/2006/main">
              <a:srgbClr val="2F6FED"/>
            </a:solidFill>
          </c:spPr>
          <c:cat>
            <c:strRef>
              <c:f>'Chart Data'!$A$2:$A$5</c:f>
              <c:strCache>
                <c:ptCount val="4"/>
                <c:pt idx="0">
                  <c:v>Plan</c:v>
                </c:pt>
                <c:pt idx="1">
                  <c:v>Do</c:v>
                </c:pt>
                <c:pt idx="2">
                  <c:v>Check</c:v>
                </c:pt>
                <c:pt idx="3">
                  <c:v>Act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65FE9-B16C-4211-AE65-7CAB4F3C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Maintenance Performance Suite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E6491-E4BC-4418-B74C-D1DCBE4D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7E3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7E3F8"/>
                </a:solidFill>
                <a:latin typeface="Arial"/>
                <a:ea typeface="Arial"/>
                <a:cs typeface="Arial"/>
              </a:rPr>
              <a:t>Sistema analítico para mantenimiento industrial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19B67-E139-4132-8F8F-99BA0593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FC6E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FC6EA"/>
                </a:solidFill>
                <a:latin typeface="Arial"/>
                <a:ea typeface="Arial"/>
                <a:cs typeface="Arial"/>
              </a:rPr>
              <a:t>SAP PM MM CO PP  |  Power BI  |  Mejora Enfocada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6BBF2-519F-4219-ABD0-F6BA2B45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AAED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ED0"/>
                </a:solidFill>
                <a:latin typeface="Arial"/>
                <a:ea typeface="Arial"/>
                <a:cs typeface="Arial"/>
              </a:rPr>
              <a:t>Datos sintéticos</a:t>
            </a:r>
          </a:p>
        </p:txBody>
      </p:sp>
    </p:spTree>
    <p:extLst>
      <p:ext uri="{BB962C8B-B14F-4D97-AF65-F5344CB8AC3E}">
        <p14:creationId xmlns:p14="http://schemas.microsoft.com/office/powerpoint/2010/main" val="908548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BC86A-5448-4B89-A715-7951CAE5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Resumen ejecutivo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EA7DA-B1E0-479C-9799-9BA44CC6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3.044 órdenes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CA0EB-9CB4-4659-9350-2E504D16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763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2.623 avisos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10FF6-7D18-433A-B52F-1D643AA5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80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805C"/>
                </a:solidFill>
                <a:latin typeface="Arial"/>
                <a:ea typeface="Arial"/>
                <a:cs typeface="Arial"/>
              </a:rPr>
              <a:t>90.9% disponibilidad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FE826-F327-4BE1-A552-2044F773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M$ 2173.1 costo real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5CE7A-4EBF-486C-AB52-1D965693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2412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M$ 31.8 ahorro validado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AD420-CA3C-42AF-B014-4E02071E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1475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00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La base cubre 24 meses y concentra las fallas en pocos activos.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00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El modelo conecta costo, confiabilidad, backlog y cumplimiento preventivo.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00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La cartera A3 exige ahorro confirmado y actualización del estándar.</a:t>
            </a:r>
          </a:p>
        </p:txBody>
      </p:sp>
    </p:spTree>
    <p:extLst>
      <p:ext uri="{BB962C8B-B14F-4D97-AF65-F5344CB8AC3E}">
        <p14:creationId xmlns:p14="http://schemas.microsoft.com/office/powerpoint/2010/main" val="16463592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AFD49-8750-4939-A9EF-3D3D6A78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4B01B-2EE9-4F1C-A63F-D52EC39D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2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SAP PM MM CO 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90F5D-DA05-4B40-8ADC-DAB13FFA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192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Power Query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941A5-BCAE-4682-B10E-B6B558E6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192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Modelo TMDL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6FF61-CDD0-4CDD-A41E-BB551E5E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192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498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79 medidas DAX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CF0FA-BADD-4164-BDEE-7257E542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192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852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12 páginas PBIR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0ADD7-64EF-4BF2-ABE6-985E69DF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Cada capa conserva la fuente, el grano y la definición del indicador.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7F1BF-6DD1-472E-B5D0-559C4BE9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7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15 tablas semánticas con relaciones controladas.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7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174 visuales con transacción SAP visible.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7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Build reproducible, pruebas automatizadas y publicación continua.</a:t>
            </a:r>
          </a:p>
        </p:txBody>
      </p:sp>
    </p:spTree>
    <p:extLst>
      <p:ext uri="{BB962C8B-B14F-4D97-AF65-F5344CB8AC3E}">
        <p14:creationId xmlns:p14="http://schemas.microsoft.com/office/powerpoint/2010/main" val="14930228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79E7F-5DCF-4E30-B7F3-241D7DAD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El correctivo disminuye</a:t>
            </a:r>
          </a:p>
        </p:txBody>
      </p:sp>
      <p:graphicFrame>
        <p:nvGraphicFramePr>
          <p:cNvPr id="4" name="Chart"/>
          <p:cNvGraphicFramePr/>
          <p:nvPr/>
        </p:nvGraphicFramePr>
        <p:xfrm>
          <a:off xmlns:a="http://schemas.openxmlformats.org/drawingml/2006/main" x="857250" y="1428750"/>
          <a:ext xmlns:a="http://schemas.openxmlformats.org/drawingml/2006/main" cx="10477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a1ce8e478f401c"/>
          </a:graphicData>
        </a:graphic>
      </p:graphicFrame>
    </p:spTree>
    <p:extLst>
      <p:ext uri="{BB962C8B-B14F-4D97-AF65-F5344CB8AC3E}">
        <p14:creationId xmlns:p14="http://schemas.microsoft.com/office/powerpoint/2010/main" val="18214378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DA571-137D-459D-AE4B-CCB7D4AB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Concentración de fallas</a:t>
            </a:r>
          </a:p>
        </p:txBody>
      </p:sp>
      <p:graphicFrame>
        <p:nvGraphicFramePr>
          <p:cNvPr id="4" name="Chart"/>
          <p:cNvGraphicFramePr/>
          <p:nvPr/>
        </p:nvGraphicFramePr>
        <p:xfrm>
          <a:off xmlns:a="http://schemas.openxmlformats.org/drawingml/2006/main" x="952500" y="1428750"/>
          <a:ext xmlns:a="http://schemas.openxmlformats.org/drawingml/2006/main" cx="1028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cbb57728dad4bf5"/>
          </a:graphicData>
        </a:graphic>
      </p:graphicFrame>
    </p:spTree>
    <p:extLst>
      <p:ext uri="{BB962C8B-B14F-4D97-AF65-F5344CB8AC3E}">
        <p14:creationId xmlns:p14="http://schemas.microsoft.com/office/powerpoint/2010/main" val="4805742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C88C6-B5EF-4742-B253-B1984F56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Costo y capacidad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217E0-0D0C-4C4C-BC0B-8A68A411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Costo real M$ 2173.1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3642D-A58C-4742-A8CA-CD6B1C08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Plan M$ 2200.0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9DA29-A2AE-4884-AF59-BD8C5CDF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575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20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Backlog abierto: 3484 HH pendientes.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20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8 órdenes esperan repuesto en el período seleccionado.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20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El correctivo muestra mayor dispersión de costo que el preventivo.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8695C-996A-4BC9-AA9E-D9948799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91125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Prioridad: programación semanal por especialidad y protección de repuestos A.</a:t>
            </a:r>
          </a:p>
        </p:txBody>
      </p:sp>
    </p:spTree>
    <p:extLst>
      <p:ext uri="{BB962C8B-B14F-4D97-AF65-F5344CB8AC3E}">
        <p14:creationId xmlns:p14="http://schemas.microsoft.com/office/powerpoint/2010/main" val="12166198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B32C2-6619-4D6E-A07F-35E77123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Cartera A3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857250" y="1476375"/>
          <a:ext xmlns:a="http://schemas.openxmlformats.org/drawingml/2006/main" cx="4762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4cd3f693b8419e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B0332-9923-4D88-8E4C-605E8010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805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805C"/>
                </a:solidFill>
                <a:latin typeface="Arial"/>
                <a:ea typeface="Arial"/>
                <a:cs typeface="Arial"/>
              </a:rPr>
              <a:t>M$ 31.8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7E6C2-3BA7-4F31-8811-1F714183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146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Ahorro validado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AAE56-E155-4702-92CA-8BCD5B7E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71875"/>
            <a:ext cx="428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7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Las iniciativas se originan en pérdidas cuantificadas.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7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El cierre exige verificación en CO.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7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Act requiere actualizar el plan preventivo.</a:t>
            </a:r>
          </a:p>
        </p:txBody>
      </p:sp>
    </p:spTree>
    <p:extLst>
      <p:ext uri="{BB962C8B-B14F-4D97-AF65-F5344CB8AC3E}">
        <p14:creationId xmlns:p14="http://schemas.microsoft.com/office/powerpoint/2010/main" val="14799603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56D41-A1F3-4A3B-BE49-A1EE541A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Decisiones para la implementación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4881B-D4F6-4467-8F6D-3CF51D04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FB0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FB0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F94D1-0702-4EFB-AE0F-E7E9C5F4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81150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Asignar dueño por KPI y por fuente SAP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B2BC1-70CC-4188-83AA-FCC9E638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FB0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FB0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CA107-6202-4B83-9DD0-DE5B97CE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76525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Reconciliar los ocho KPI principales con tolerancia de 1%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88FA6-D341-4FF8-80DD-FD134173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00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FB0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FB0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546CE-30C7-46AB-8C40-DAEE137A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719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Publicar el piloto y cerrar la primera mejora con ahorro confirmado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D1831-6320-49B6-AA8F-E661AAE5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7D8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7D8F5"/>
                </a:solidFill>
                <a:latin typeface="Arial"/>
                <a:ea typeface="Arial"/>
                <a:cs typeface="Arial"/>
              </a:rPr>
              <a:t>El OEE permanece parcial hasta integrar velocidad y calidad de línea.</a:t>
            </a:r>
          </a:p>
        </p:txBody>
      </p:sp>
    </p:spTree>
    <p:extLst>
      <p:ext uri="{BB962C8B-B14F-4D97-AF65-F5344CB8AC3E}">
        <p14:creationId xmlns:p14="http://schemas.microsoft.com/office/powerpoint/2010/main" val="18012707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2026-09-24T21:56:14.1980000Z</dcterms:created>
  <dcterms:modified xsi:type="dcterms:W3CDTF">2026-09-24T21:56:14.1980000Z</dcterms:modified>
</coreProperties>
</file>